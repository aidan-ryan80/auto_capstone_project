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F748A-30B2-78E1-C129-C6722CA20C61}" v="2" dt="2026-06-24T09:59:21.018"/>
    <p1510:client id="{B3D41813-AE6E-BBCD-0E39-31764F15D1E0}" v="88" dt="2026-06-24T10:18:07.910"/>
    <p1510:client id="{C4118F6B-9475-C69D-DBAC-3D577AF13DBB}" v="124" dt="2026-06-24T10:12:01.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n Ryan" userId="S::24imc11345@fh-krems.ac.at::09e7e0b4-83ba-43f2-b524-2644f14f3713" providerId="AD" clId="Web-{0BCF748A-30B2-78E1-C129-C6722CA20C61}"/>
    <pc:docChg chg="modSld">
      <pc:chgData name="Aidan Ryan" userId="S::24imc11345@fh-krems.ac.at::09e7e0b4-83ba-43f2-b524-2644f14f3713" providerId="AD" clId="Web-{0BCF748A-30B2-78E1-C129-C6722CA20C61}" dt="2026-06-24T09:59:21.018" v="1" actId="1076"/>
      <pc:docMkLst>
        <pc:docMk/>
      </pc:docMkLst>
      <pc:sldChg chg="modSp">
        <pc:chgData name="Aidan Ryan" userId="S::24imc11345@fh-krems.ac.at::09e7e0b4-83ba-43f2-b524-2644f14f3713" providerId="AD" clId="Web-{0BCF748A-30B2-78E1-C129-C6722CA20C61}" dt="2026-06-24T09:59:21.018" v="1" actId="1076"/>
        <pc:sldMkLst>
          <pc:docMk/>
          <pc:sldMk cId="0" sldId="258"/>
        </pc:sldMkLst>
        <pc:picChg chg="mod">
          <ac:chgData name="Aidan Ryan" userId="S::24imc11345@fh-krems.ac.at::09e7e0b4-83ba-43f2-b524-2644f14f3713" providerId="AD" clId="Web-{0BCF748A-30B2-78E1-C129-C6722CA20C61}" dt="2026-06-24T09:59:16.956" v="0" actId="1076"/>
          <ac:picMkLst>
            <pc:docMk/>
            <pc:sldMk cId="0" sldId="258"/>
            <ac:picMk id="4" creationId="{00000000-0000-0000-0000-000000000000}"/>
          </ac:picMkLst>
        </pc:picChg>
        <pc:picChg chg="mod">
          <ac:chgData name="Aidan Ryan" userId="S::24imc11345@fh-krems.ac.at::09e7e0b4-83ba-43f2-b524-2644f14f3713" providerId="AD" clId="Web-{0BCF748A-30B2-78E1-C129-C6722CA20C61}" dt="2026-06-24T09:59:21.018" v="1" actId="1076"/>
          <ac:picMkLst>
            <pc:docMk/>
            <pc:sldMk cId="0" sldId="258"/>
            <ac:picMk id="12" creationId="{00000000-0000-0000-0000-000000000000}"/>
          </ac:picMkLst>
        </pc:picChg>
      </pc:sldChg>
    </pc:docChg>
  </pc:docChgLst>
  <pc:docChgLst>
    <pc:chgData name="Adam Ryan" userId="S::24imc11344@fh-krems.ac.at::12df14cb-ba49-4e33-a28c-b1a4dc0fc751" providerId="AD" clId="Web-{C4118F6B-9475-C69D-DBAC-3D577AF13DBB}"/>
    <pc:docChg chg="modSld">
      <pc:chgData name="Adam Ryan" userId="S::24imc11344@fh-krems.ac.at::12df14cb-ba49-4e33-a28c-b1a4dc0fc751" providerId="AD" clId="Web-{C4118F6B-9475-C69D-DBAC-3D577AF13DBB}" dt="2026-06-24T10:12:01.290" v="120" actId="14100"/>
      <pc:docMkLst>
        <pc:docMk/>
      </pc:docMkLst>
      <pc:sldChg chg="addSp delSp modSp">
        <pc:chgData name="Adam Ryan" userId="S::24imc11344@fh-krems.ac.at::12df14cb-ba49-4e33-a28c-b1a4dc0fc751" providerId="AD" clId="Web-{C4118F6B-9475-C69D-DBAC-3D577AF13DBB}" dt="2026-06-24T10:12:01.290" v="120" actId="14100"/>
        <pc:sldMkLst>
          <pc:docMk/>
          <pc:sldMk cId="0" sldId="256"/>
        </pc:sldMkLst>
        <pc:spChg chg="add del mod ord">
          <ac:chgData name="Adam Ryan" userId="S::24imc11344@fh-krems.ac.at::12df14cb-ba49-4e33-a28c-b1a4dc0fc751" providerId="AD" clId="Web-{C4118F6B-9475-C69D-DBAC-3D577AF13DBB}" dt="2026-06-24T10:12:01.290" v="120" actId="14100"/>
          <ac:spMkLst>
            <pc:docMk/>
            <pc:sldMk cId="0" sldId="256"/>
            <ac:spMk id="4" creationId="{00000000-0000-0000-0000-000000000000}"/>
          </ac:spMkLst>
        </pc:spChg>
        <pc:picChg chg="del">
          <ac:chgData name="Adam Ryan" userId="S::24imc11344@fh-krems.ac.at::12df14cb-ba49-4e33-a28c-b1a4dc0fc751" providerId="AD" clId="Web-{C4118F6B-9475-C69D-DBAC-3D577AF13DBB}" dt="2026-06-24T10:08:45.923" v="88"/>
          <ac:picMkLst>
            <pc:docMk/>
            <pc:sldMk cId="0" sldId="256"/>
            <ac:picMk id="3" creationId="{00000000-0000-0000-0000-000000000000}"/>
          </ac:picMkLst>
        </pc:picChg>
        <pc:picChg chg="add del mod modCrop">
          <ac:chgData name="Adam Ryan" userId="S::24imc11344@fh-krems.ac.at::12df14cb-ba49-4e33-a28c-b1a4dc0fc751" providerId="AD" clId="Web-{C4118F6B-9475-C69D-DBAC-3D577AF13DBB}" dt="2026-06-24T10:11:54.508" v="118" actId="1076"/>
          <ac:picMkLst>
            <pc:docMk/>
            <pc:sldMk cId="0" sldId="256"/>
            <ac:picMk id="11" creationId="{0390CBB6-B464-207A-E2B8-4B3C00DFCC76}"/>
          </ac:picMkLst>
        </pc:picChg>
      </pc:sldChg>
      <pc:sldChg chg="modSp">
        <pc:chgData name="Adam Ryan" userId="S::24imc11344@fh-krems.ac.at::12df14cb-ba49-4e33-a28c-b1a4dc0fc751" providerId="AD" clId="Web-{C4118F6B-9475-C69D-DBAC-3D577AF13DBB}" dt="2026-06-24T09:58:33.556" v="27" actId="20577"/>
        <pc:sldMkLst>
          <pc:docMk/>
          <pc:sldMk cId="0" sldId="258"/>
        </pc:sldMkLst>
        <pc:spChg chg="mod">
          <ac:chgData name="Adam Ryan" userId="S::24imc11344@fh-krems.ac.at::12df14cb-ba49-4e33-a28c-b1a4dc0fc751" providerId="AD" clId="Web-{C4118F6B-9475-C69D-DBAC-3D577AF13DBB}" dt="2026-06-24T09:58:23.649" v="10" actId="20577"/>
          <ac:spMkLst>
            <pc:docMk/>
            <pc:sldMk cId="0" sldId="258"/>
            <ac:spMk id="9" creationId="{00000000-0000-0000-0000-000000000000}"/>
          </ac:spMkLst>
        </pc:spChg>
        <pc:spChg chg="mod">
          <ac:chgData name="Adam Ryan" userId="S::24imc11344@fh-krems.ac.at::12df14cb-ba49-4e33-a28c-b1a4dc0fc751" providerId="AD" clId="Web-{C4118F6B-9475-C69D-DBAC-3D577AF13DBB}" dt="2026-06-24T09:58:33.556" v="27" actId="20577"/>
          <ac:spMkLst>
            <pc:docMk/>
            <pc:sldMk cId="0" sldId="258"/>
            <ac:spMk id="17" creationId="{00000000-0000-0000-0000-000000000000}"/>
          </ac:spMkLst>
        </pc:spChg>
      </pc:sldChg>
      <pc:sldChg chg="addSp delSp modSp">
        <pc:chgData name="Adam Ryan" userId="S::24imc11344@fh-krems.ac.at::12df14cb-ba49-4e33-a28c-b1a4dc0fc751" providerId="AD" clId="Web-{C4118F6B-9475-C69D-DBAC-3D577AF13DBB}" dt="2026-06-24T10:02:21.173" v="48" actId="1076"/>
        <pc:sldMkLst>
          <pc:docMk/>
          <pc:sldMk cId="0" sldId="259"/>
        </pc:sldMkLst>
        <pc:picChg chg="del">
          <ac:chgData name="Adam Ryan" userId="S::24imc11344@fh-krems.ac.at::12df14cb-ba49-4e33-a28c-b1a4dc0fc751" providerId="AD" clId="Web-{C4118F6B-9475-C69D-DBAC-3D577AF13DBB}" dt="2026-06-24T10:01:59.423" v="42"/>
          <ac:picMkLst>
            <pc:docMk/>
            <pc:sldMk cId="0" sldId="259"/>
            <ac:picMk id="3" creationId="{00000000-0000-0000-0000-000000000000}"/>
          </ac:picMkLst>
        </pc:picChg>
        <pc:picChg chg="add mod">
          <ac:chgData name="Adam Ryan" userId="S::24imc11344@fh-krems.ac.at::12df14cb-ba49-4e33-a28c-b1a4dc0fc751" providerId="AD" clId="Web-{C4118F6B-9475-C69D-DBAC-3D577AF13DBB}" dt="2026-06-24T10:02:21.173" v="48" actId="1076"/>
          <ac:picMkLst>
            <pc:docMk/>
            <pc:sldMk cId="0" sldId="259"/>
            <ac:picMk id="19" creationId="{9FE089C0-D569-A478-38F1-D738E6EB0D58}"/>
          </ac:picMkLst>
        </pc:picChg>
      </pc:sldChg>
      <pc:sldChg chg="modSp">
        <pc:chgData name="Adam Ryan" userId="S::24imc11344@fh-krems.ac.at::12df14cb-ba49-4e33-a28c-b1a4dc0fc751" providerId="AD" clId="Web-{C4118F6B-9475-C69D-DBAC-3D577AF13DBB}" dt="2026-06-24T10:03:45.286" v="80" actId="20577"/>
        <pc:sldMkLst>
          <pc:docMk/>
          <pc:sldMk cId="0" sldId="262"/>
        </pc:sldMkLst>
        <pc:spChg chg="mod">
          <ac:chgData name="Adam Ryan" userId="S::24imc11344@fh-krems.ac.at::12df14cb-ba49-4e33-a28c-b1a4dc0fc751" providerId="AD" clId="Web-{C4118F6B-9475-C69D-DBAC-3D577AF13DBB}" dt="2026-06-24T10:03:29.504" v="79" actId="20577"/>
          <ac:spMkLst>
            <pc:docMk/>
            <pc:sldMk cId="0" sldId="262"/>
            <ac:spMk id="2" creationId="{00000000-0000-0000-0000-000000000000}"/>
          </ac:spMkLst>
        </pc:spChg>
        <pc:spChg chg="mod">
          <ac:chgData name="Adam Ryan" userId="S::24imc11344@fh-krems.ac.at::12df14cb-ba49-4e33-a28c-b1a4dc0fc751" providerId="AD" clId="Web-{C4118F6B-9475-C69D-DBAC-3D577AF13DBB}" dt="2026-06-24T10:02:34.627" v="49" actId="20577"/>
          <ac:spMkLst>
            <pc:docMk/>
            <pc:sldMk cId="0" sldId="262"/>
            <ac:spMk id="12" creationId="{00000000-0000-0000-0000-000000000000}"/>
          </ac:spMkLst>
        </pc:spChg>
        <pc:spChg chg="mod">
          <ac:chgData name="Adam Ryan" userId="S::24imc11344@fh-krems.ac.at::12df14cb-ba49-4e33-a28c-b1a4dc0fc751" providerId="AD" clId="Web-{C4118F6B-9475-C69D-DBAC-3D577AF13DBB}" dt="2026-06-24T10:03:45.286" v="80" actId="20577"/>
          <ac:spMkLst>
            <pc:docMk/>
            <pc:sldMk cId="0" sldId="262"/>
            <ac:spMk id="24" creationId="{00000000-0000-0000-0000-000000000000}"/>
          </ac:spMkLst>
        </pc:spChg>
      </pc:sldChg>
      <pc:sldChg chg="addSp delSp modSp">
        <pc:chgData name="Adam Ryan" userId="S::24imc11344@fh-krems.ac.at::12df14cb-ba49-4e33-a28c-b1a4dc0fc751" providerId="AD" clId="Web-{C4118F6B-9475-C69D-DBAC-3D577AF13DBB}" dt="2026-06-24T10:08:26.094" v="84"/>
        <pc:sldMkLst>
          <pc:docMk/>
          <pc:sldMk cId="0" sldId="264"/>
        </pc:sldMkLst>
        <pc:picChg chg="del">
          <ac:chgData name="Adam Ryan" userId="S::24imc11344@fh-krems.ac.at::12df14cb-ba49-4e33-a28c-b1a4dc0fc751" providerId="AD" clId="Web-{C4118F6B-9475-C69D-DBAC-3D577AF13DBB}" dt="2026-06-24T09:59:38.324" v="28"/>
          <ac:picMkLst>
            <pc:docMk/>
            <pc:sldMk cId="0" sldId="264"/>
            <ac:picMk id="7" creationId="{00000000-0000-0000-0000-000000000000}"/>
          </ac:picMkLst>
        </pc:picChg>
        <pc:picChg chg="add del mod">
          <ac:chgData name="Adam Ryan" userId="S::24imc11344@fh-krems.ac.at::12df14cb-ba49-4e33-a28c-b1a4dc0fc751" providerId="AD" clId="Web-{C4118F6B-9475-C69D-DBAC-3D577AF13DBB}" dt="2026-06-24T10:08:26.094" v="84"/>
          <ac:picMkLst>
            <pc:docMk/>
            <pc:sldMk cId="0" sldId="264"/>
            <ac:picMk id="15" creationId="{703E8C15-1712-BE43-87BC-258281F8749E}"/>
          </ac:picMkLst>
        </pc:picChg>
      </pc:sldChg>
    </pc:docChg>
  </pc:docChgLst>
  <pc:docChgLst>
    <pc:chgData name="Nora Regina Cerveny" userId="S::24imc11197@fh-krems.ac.at::22c00153-f67d-47a9-be4c-3325790d63db" providerId="AD" clId="Web-{B3D41813-AE6E-BBCD-0E39-31764F15D1E0}"/>
    <pc:docChg chg="modSld">
      <pc:chgData name="Nora Regina Cerveny" userId="S::24imc11197@fh-krems.ac.at::22c00153-f67d-47a9-be4c-3325790d63db" providerId="AD" clId="Web-{B3D41813-AE6E-BBCD-0E39-31764F15D1E0}" dt="2026-06-24T10:18:07.910" v="87" actId="20577"/>
      <pc:docMkLst>
        <pc:docMk/>
      </pc:docMkLst>
      <pc:sldChg chg="modSp">
        <pc:chgData name="Nora Regina Cerveny" userId="S::24imc11197@fh-krems.ac.at::22c00153-f67d-47a9-be4c-3325790d63db" providerId="AD" clId="Web-{B3D41813-AE6E-BBCD-0E39-31764F15D1E0}" dt="2026-06-24T10:18:07.910" v="87" actId="20577"/>
        <pc:sldMkLst>
          <pc:docMk/>
          <pc:sldMk cId="0" sldId="256"/>
        </pc:sldMkLst>
        <pc:spChg chg="mod">
          <ac:chgData name="Nora Regina Cerveny" userId="S::24imc11197@fh-krems.ac.at::22c00153-f67d-47a9-be4c-3325790d63db" providerId="AD" clId="Web-{B3D41813-AE6E-BBCD-0E39-31764F15D1E0}" dt="2026-06-24T10:17:45.519" v="62" actId="14100"/>
          <ac:spMkLst>
            <pc:docMk/>
            <pc:sldMk cId="0" sldId="256"/>
            <ac:spMk id="4" creationId="{00000000-0000-0000-0000-000000000000}"/>
          </ac:spMkLst>
        </pc:spChg>
        <pc:spChg chg="mod">
          <ac:chgData name="Nora Regina Cerveny" userId="S::24imc11197@fh-krems.ac.at::22c00153-f67d-47a9-be4c-3325790d63db" providerId="AD" clId="Web-{B3D41813-AE6E-BBCD-0E39-31764F15D1E0}" dt="2026-06-24T10:18:07.910" v="87" actId="20577"/>
          <ac:spMkLst>
            <pc:docMk/>
            <pc:sldMk cId="0" sldId="256"/>
            <ac:spMk id="6" creationId="{00000000-0000-0000-0000-000000000000}"/>
          </ac:spMkLst>
        </pc:spChg>
        <pc:picChg chg="mod modCrop">
          <ac:chgData name="Nora Regina Cerveny" userId="S::24imc11197@fh-krems.ac.at::22c00153-f67d-47a9-be4c-3325790d63db" providerId="AD" clId="Web-{B3D41813-AE6E-BBCD-0E39-31764F15D1E0}" dt="2026-06-24T10:17:14.033" v="58" actId="1076"/>
          <ac:picMkLst>
            <pc:docMk/>
            <pc:sldMk cId="0" sldId="256"/>
            <ac:picMk id="11" creationId="{0390CBB6-B464-207A-E2B8-4B3C00DFCC76}"/>
          </ac:picMkLst>
        </pc:picChg>
      </pc:sldChg>
      <pc:sldChg chg="modSp">
        <pc:chgData name="Nora Regina Cerveny" userId="S::24imc11197@fh-krems.ac.at::22c00153-f67d-47a9-be4c-3325790d63db" providerId="AD" clId="Web-{B3D41813-AE6E-BBCD-0E39-31764F15D1E0}" dt="2026-06-24T10:16:30.610" v="51" actId="1076"/>
        <pc:sldMkLst>
          <pc:docMk/>
          <pc:sldMk cId="0" sldId="259"/>
        </pc:sldMkLst>
        <pc:picChg chg="mod modCrop">
          <ac:chgData name="Nora Regina Cerveny" userId="S::24imc11197@fh-krems.ac.at::22c00153-f67d-47a9-be4c-3325790d63db" providerId="AD" clId="Web-{B3D41813-AE6E-BBCD-0E39-31764F15D1E0}" dt="2026-06-24T10:16:30.610" v="51" actId="1076"/>
          <ac:picMkLst>
            <pc:docMk/>
            <pc:sldMk cId="0" sldId="259"/>
            <ac:picMk id="19" creationId="{9FE089C0-D569-A478-38F1-D738E6EB0D58}"/>
          </ac:picMkLst>
        </pc:picChg>
      </pc:sldChg>
      <pc:sldChg chg="modSp">
        <pc:chgData name="Nora Regina Cerveny" userId="S::24imc11197@fh-krems.ac.at::22c00153-f67d-47a9-be4c-3325790d63db" providerId="AD" clId="Web-{B3D41813-AE6E-BBCD-0E39-31764F15D1E0}" dt="2026-06-24T10:00:19.726" v="13" actId="20577"/>
        <pc:sldMkLst>
          <pc:docMk/>
          <pc:sldMk cId="0" sldId="260"/>
        </pc:sldMkLst>
        <pc:spChg chg="mod">
          <ac:chgData name="Nora Regina Cerveny" userId="S::24imc11197@fh-krems.ac.at::22c00153-f67d-47a9-be4c-3325790d63db" providerId="AD" clId="Web-{B3D41813-AE6E-BBCD-0E39-31764F15D1E0}" dt="2026-06-24T10:00:19.726" v="13" actId="20577"/>
          <ac:spMkLst>
            <pc:docMk/>
            <pc:sldMk cId="0" sldId="260"/>
            <ac:spMk id="14" creationId="{00000000-0000-0000-0000-000000000000}"/>
          </ac:spMkLst>
        </pc:spChg>
      </pc:sldChg>
      <pc:sldChg chg="modSp">
        <pc:chgData name="Nora Regina Cerveny" userId="S::24imc11197@fh-krems.ac.at::22c00153-f67d-47a9-be4c-3325790d63db" providerId="AD" clId="Web-{B3D41813-AE6E-BBCD-0E39-31764F15D1E0}" dt="2026-06-24T10:07:17.790" v="44" actId="20577"/>
        <pc:sldMkLst>
          <pc:docMk/>
          <pc:sldMk cId="0" sldId="262"/>
        </pc:sldMkLst>
        <pc:spChg chg="mod">
          <ac:chgData name="Nora Regina Cerveny" userId="S::24imc11197@fh-krems.ac.at::22c00153-f67d-47a9-be4c-3325790d63db" providerId="AD" clId="Web-{B3D41813-AE6E-BBCD-0E39-31764F15D1E0}" dt="2026-06-24T10:05:19.004" v="31" actId="20577"/>
          <ac:spMkLst>
            <pc:docMk/>
            <pc:sldMk cId="0" sldId="262"/>
            <ac:spMk id="7" creationId="{00000000-0000-0000-0000-000000000000}"/>
          </ac:spMkLst>
        </pc:spChg>
        <pc:spChg chg="mod">
          <ac:chgData name="Nora Regina Cerveny" userId="S::24imc11197@fh-krems.ac.at::22c00153-f67d-47a9-be4c-3325790d63db" providerId="AD" clId="Web-{B3D41813-AE6E-BBCD-0E39-31764F15D1E0}" dt="2026-06-24T10:07:17.790" v="44" actId="20577"/>
          <ac:spMkLst>
            <pc:docMk/>
            <pc:sldMk cId="0" sldId="262"/>
            <ac:spMk id="19" creationId="{00000000-0000-0000-0000-000000000000}"/>
          </ac:spMkLst>
        </pc:spChg>
        <pc:spChg chg="mod">
          <ac:chgData name="Nora Regina Cerveny" userId="S::24imc11197@fh-krems.ac.at::22c00153-f67d-47a9-be4c-3325790d63db" providerId="AD" clId="Web-{B3D41813-AE6E-BBCD-0E39-31764F15D1E0}" dt="2026-06-24T10:03:57.406" v="16" actId="20577"/>
          <ac:spMkLst>
            <pc:docMk/>
            <pc:sldMk cId="0" sldId="262"/>
            <ac:spMk id="3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7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D1B2A"/>
                </a:solidFill>
                <a:latin typeface="Arial"/>
              </a:defRPr>
            </a:pPr>
            <a:r>
              <a:rPr sz="1300" b="0" i="0" u="none" strike="noStrike">
                <a:solidFill>
                  <a:srgbClr val="0D1B2A"/>
                </a:solidFill>
                <a:latin typeface="Arial"/>
              </a:rPr>
              <a:t>Completion % per Sub-task</a:t>
            </a:r>
          </a:p>
        </c:rich>
      </c:tx>
      <c:overlay val="0"/>
    </c:title>
    <c:autoTitleDeleted val="0"/>
    <c:plotArea>
      <c:layout/>
      <c:barChart>
        <c:barDir val="bar"/>
        <c:grouping val="clustered"/>
        <c:varyColors val="0"/>
        <c:ser>
          <c:idx val="0"/>
          <c:order val="0"/>
          <c:tx>
            <c:strRef>
              <c:f>Sheet1!$B$1</c:f>
              <c:strCache>
                <c:ptCount val="1"/>
                <c:pt idx="0">
                  <c:v>Progress</c:v>
                </c:pt>
              </c:strCache>
            </c:strRef>
          </c:tx>
          <c:spPr>
            <a:solidFill>
              <a:srgbClr val="0A9396"/>
            </a:solidFill>
            <a:effectLst/>
          </c:spPr>
          <c:invertIfNegative val="0"/>
          <c:dPt>
            <c:idx val="0"/>
            <c:invertIfNegative val="0"/>
            <c:bubble3D val="0"/>
            <c:extLst>
              <c:ext xmlns:c16="http://schemas.microsoft.com/office/drawing/2014/chart" uri="{C3380CC4-5D6E-409C-BE32-E72D297353CC}">
                <c16:uniqueId val="{00000001-F0CA-4AE7-B3F8-C02EDFA901CC}"/>
              </c:ext>
            </c:extLst>
          </c:dPt>
          <c:dPt>
            <c:idx val="1"/>
            <c:invertIfNegative val="0"/>
            <c:bubble3D val="0"/>
            <c:extLst>
              <c:ext xmlns:c16="http://schemas.microsoft.com/office/drawing/2014/chart" uri="{C3380CC4-5D6E-409C-BE32-E72D297353CC}">
                <c16:uniqueId val="{00000003-F0CA-4AE7-B3F8-C02EDFA901CC}"/>
              </c:ext>
            </c:extLst>
          </c:dPt>
          <c:dPt>
            <c:idx val="2"/>
            <c:invertIfNegative val="0"/>
            <c:bubble3D val="0"/>
            <c:extLst>
              <c:ext xmlns:c16="http://schemas.microsoft.com/office/drawing/2014/chart" uri="{C3380CC4-5D6E-409C-BE32-E72D297353CC}">
                <c16:uniqueId val="{00000005-F0CA-4AE7-B3F8-C02EDFA901CC}"/>
              </c:ext>
            </c:extLst>
          </c:dPt>
          <c:dPt>
            <c:idx val="3"/>
            <c:invertIfNegative val="0"/>
            <c:bubble3D val="0"/>
            <c:extLst>
              <c:ext xmlns:c16="http://schemas.microsoft.com/office/drawing/2014/chart" uri="{C3380CC4-5D6E-409C-BE32-E72D297353CC}">
                <c16:uniqueId val="{00000007-F0CA-4AE7-B3F8-C02EDFA901CC}"/>
              </c:ext>
            </c:extLst>
          </c:dPt>
          <c:dPt>
            <c:idx val="4"/>
            <c:invertIfNegative val="0"/>
            <c:bubble3D val="0"/>
            <c:extLst>
              <c:ext xmlns:c16="http://schemas.microsoft.com/office/drawing/2014/chart" uri="{C3380CC4-5D6E-409C-BE32-E72D297353CC}">
                <c16:uniqueId val="{00000009-F0CA-4AE7-B3F8-C02EDFA901CC}"/>
              </c:ext>
            </c:extLst>
          </c:dPt>
          <c:dPt>
            <c:idx val="5"/>
            <c:invertIfNegative val="0"/>
            <c:bubble3D val="0"/>
            <c:extLst>
              <c:ext xmlns:c16="http://schemas.microsoft.com/office/drawing/2014/chart" uri="{C3380CC4-5D6E-409C-BE32-E72D297353CC}">
                <c16:uniqueId val="{0000000B-F0CA-4AE7-B3F8-C02EDFA901CC}"/>
              </c:ext>
            </c:extLst>
          </c:dPt>
          <c:dPt>
            <c:idx val="6"/>
            <c:invertIfNegative val="0"/>
            <c:bubble3D val="0"/>
            <c:extLst>
              <c:ext xmlns:c16="http://schemas.microsoft.com/office/drawing/2014/chart" uri="{C3380CC4-5D6E-409C-BE32-E72D297353CC}">
                <c16:uniqueId val="{0000000D-F0CA-4AE7-B3F8-C02EDFA901CC}"/>
              </c:ext>
            </c:extLst>
          </c:dPt>
          <c:dPt>
            <c:idx val="7"/>
            <c:invertIfNegative val="0"/>
            <c:bubble3D val="0"/>
            <c:spPr>
              <a:solidFill>
                <a:srgbClr val="F4A261"/>
              </a:solidFill>
              <a:effectLst/>
            </c:spPr>
            <c:extLst>
              <c:ext xmlns:c16="http://schemas.microsoft.com/office/drawing/2014/chart" uri="{C3380CC4-5D6E-409C-BE32-E72D297353CC}">
                <c16:uniqueId val="{0000000F-F0CA-4AE7-B3F8-C02EDFA901CC}"/>
              </c:ext>
            </c:extLst>
          </c:dPt>
          <c:dPt>
            <c:idx val="8"/>
            <c:invertIfNegative val="0"/>
            <c:bubble3D val="0"/>
            <c:spPr>
              <a:solidFill>
                <a:srgbClr val="E63946"/>
              </a:solidFill>
              <a:effectLst/>
            </c:spPr>
            <c:extLst>
              <c:ext xmlns:c16="http://schemas.microsoft.com/office/drawing/2014/chart" uri="{C3380CC4-5D6E-409C-BE32-E72D297353CC}">
                <c16:uniqueId val="{00000011-F0CA-4AE7-B3F8-C02EDFA901CC}"/>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OS &amp; Boot</c:v>
                </c:pt>
                <c:pt idx="1">
                  <c:v>WiFi Driver</c:v>
                </c:pt>
                <c:pt idx="2">
                  <c:v>Power System</c:v>
                </c:pt>
                <c:pt idx="3">
                  <c:v>Desktop</c:v>
                </c:pt>
                <c:pt idx="4">
                  <c:v>Camera</c:v>
                </c:pt>
                <c:pt idx="5">
                  <c:v>OLED Display</c:v>
                </c:pt>
                <c:pt idx="6">
                  <c:v>Servo Arm</c:v>
                </c:pt>
                <c:pt idx="7">
                  <c:v>Drive Motors</c:v>
                </c:pt>
                <c:pt idx="8">
                  <c:v>AI Pipeline</c:v>
                </c:pt>
              </c:strCache>
            </c:strRef>
          </c:cat>
          <c:val>
            <c:numRef>
              <c:f>Sheet1!$B$2:$B$10</c:f>
              <c:numCache>
                <c:formatCode>General</c:formatCode>
                <c:ptCount val="9"/>
                <c:pt idx="0">
                  <c:v>100</c:v>
                </c:pt>
                <c:pt idx="1">
                  <c:v>100</c:v>
                </c:pt>
                <c:pt idx="2">
                  <c:v>85</c:v>
                </c:pt>
                <c:pt idx="3">
                  <c:v>100</c:v>
                </c:pt>
                <c:pt idx="4">
                  <c:v>100</c:v>
                </c:pt>
                <c:pt idx="5">
                  <c:v>100</c:v>
                </c:pt>
                <c:pt idx="6">
                  <c:v>90</c:v>
                </c:pt>
                <c:pt idx="7">
                  <c:v>20</c:v>
                </c:pt>
                <c:pt idx="8">
                  <c:v>5</c:v>
                </c:pt>
              </c:numCache>
            </c:numRef>
          </c:val>
          <c:extLst>
            <c:ext xmlns:c16="http://schemas.microsoft.com/office/drawing/2014/chart" uri="{C3380CC4-5D6E-409C-BE32-E72D297353CC}">
              <c16:uniqueId val="{00000012-F0CA-4AE7-B3F8-C02EDFA901C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9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A104125-294F-4341-8892-B105351E1193}" type="datetimeFigureOut">
              <a:t>6/24/2026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F4769BA1-2733-49FC-9499-E4CB2CC9E508}" type="slidenum">
              <a:t>‹#›</a:t>
            </a:fld>
            <a:endParaRPr lang="en-US"/>
          </a:p>
        </p:txBody>
      </p:sp>
    </p:spTree>
    <p:extLst>
      <p:ext uri="{BB962C8B-B14F-4D97-AF65-F5344CB8AC3E}">
        <p14:creationId xmlns:p14="http://schemas.microsoft.com/office/powerpoint/2010/main" val="4150794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Introduce the project briefly. This was a semester-long capstone project to build a self-driving robot from scratch using real AI hardware. Four team members, divided between hardware and software.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Self-driving is a hot topic. Explain why it matters to everyday people. Our project is a small-scale version of what Tesla, Waymo etc. are doing — great for learning the core challenges.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hardware, two software. Hardware was responsible for getting the physical robot running. Software planned the AI pipeline. In practice, hardware challenges dominated most of the semester.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each component. Emphasize the brain (Jetson) is a real AI chip — the same class of hardware used in research robotics. The camera feeds into the AI for decision-making.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was designed as three progressive milestones: build it, see with it, drive with it. Task C was the hardware foundation. Tasks B and A are the AI layers on top.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software architecture as designed. Walk through each step simply: camera sees, AI detects lanes and objects, we merge both into a unified view, then the robot decides what to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story of the semester. One compatibility wall after another. Each one was solvable, but each took hours to days of debugging. The motors are the last unsolved issue.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Visual summary of where we got to. Most hardware setup tasks are done. The motors and the AI pipeline are the two remaining gaps. Great to show this as a bar chart for audience clarity.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audience the real robot. These are photos from our actual sessions. Point out key elements: the camera on the arm, the Jetson board, the tank tracks.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Wrap up by emphasizing what was learned, not just what was built. The compatibility work IS the result. Future work: fix motors, add more sensors, train custom AI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floor for questions. Key points to mention if needed: the biggest surprise was how much the OS/kernel version mattered for hardware compatibility. The AI pipeline would have been straightforward if the hardware worked as expected.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005F73">
              <a:alpha val="70000"/>
            </a:srgbClr>
          </a:solidFill>
          <a:ln w="12700">
            <a:solidFill>
              <a:srgbClr val="005F73"/>
            </a:solidFill>
            <a:prstDash val="solid"/>
          </a:ln>
        </p:spPr>
      </p:sp>
      <p:sp>
        <p:nvSpPr>
          <p:cNvPr id="5" name="Text 2"/>
          <p:cNvSpPr/>
          <p:nvPr/>
        </p:nvSpPr>
        <p:spPr>
          <a:xfrm>
            <a:off x="365760" y="1691640"/>
            <a:ext cx="4572000" cy="822960"/>
          </a:xfrm>
          <a:prstGeom prst="rect">
            <a:avLst/>
          </a:prstGeom>
          <a:noFill/>
          <a:ln/>
        </p:spPr>
        <p:txBody>
          <a:bodyPr wrap="square" lIns="0" tIns="0" rIns="0" bIns="0" rtlCol="0" anchor="ctr"/>
          <a:lstStyle/>
          <a:p>
            <a:pPr marL="0" indent="0">
              <a:buNone/>
            </a:pPr>
            <a:r>
              <a:rPr lang="en-US" sz="3800" b="1">
                <a:solidFill>
                  <a:srgbClr val="FFFFFF"/>
                </a:solidFill>
                <a:latin typeface="Cambria" pitchFamily="34" charset="0"/>
                <a:ea typeface="Cambria" pitchFamily="34" charset="-122"/>
                <a:cs typeface="Cambria" pitchFamily="34" charset="-120"/>
              </a:rPr>
              <a:t>Self-Driving Robot</a:t>
            </a:r>
            <a:endParaRPr lang="en-US" sz="3800"/>
          </a:p>
        </p:txBody>
      </p:sp>
      <p:sp>
        <p:nvSpPr>
          <p:cNvPr id="6" name="Text 3"/>
          <p:cNvSpPr/>
          <p:nvPr/>
        </p:nvSpPr>
        <p:spPr>
          <a:xfrm>
            <a:off x="365760" y="2514600"/>
            <a:ext cx="4572000" cy="502920"/>
          </a:xfrm>
          <a:prstGeom prst="rect">
            <a:avLst/>
          </a:prstGeom>
          <a:noFill/>
          <a:ln/>
        </p:spPr>
        <p:txBody>
          <a:bodyPr wrap="square" lIns="0" tIns="0" rIns="0" bIns="0" rtlCol="0" anchor="ctr"/>
          <a:lstStyle/>
          <a:p>
            <a:r>
              <a:rPr lang="en-US" sz="1700">
                <a:solidFill>
                  <a:srgbClr val="94D2BD"/>
                </a:solidFill>
                <a:latin typeface="Calibri"/>
                <a:ea typeface="Calibri"/>
                <a:cs typeface="Calibri"/>
              </a:rPr>
              <a:t>Data Science Capstone Project </a:t>
            </a:r>
            <a:endParaRPr lang="en-US" sz="1700">
              <a:latin typeface="Calibri"/>
              <a:ea typeface="Calibri"/>
              <a:cs typeface="Calibri"/>
            </a:endParaRPr>
          </a:p>
        </p:txBody>
      </p:sp>
      <p:sp>
        <p:nvSpPr>
          <p:cNvPr id="7" name="Text 4"/>
          <p:cNvSpPr/>
          <p:nvPr/>
        </p:nvSpPr>
        <p:spPr>
          <a:xfrm>
            <a:off x="365760" y="3017520"/>
            <a:ext cx="4572000" cy="365760"/>
          </a:xfrm>
          <a:prstGeom prst="rect">
            <a:avLst/>
          </a:prstGeom>
          <a:noFill/>
          <a:ln/>
        </p:spPr>
        <p:txBody>
          <a:bodyPr wrap="square" lIns="0" tIns="0" rIns="0" bIns="0" rtlCol="0" anchor="ctr"/>
          <a:lstStyle/>
          <a:p>
            <a:pPr marL="0" indent="0">
              <a:buNone/>
            </a:pPr>
            <a:r>
              <a:rPr lang="en-US" sz="1400" i="1">
                <a:solidFill>
                  <a:srgbClr val="D0D0D0"/>
                </a:solidFill>
                <a:latin typeface="Calibri" pitchFamily="34" charset="0"/>
                <a:ea typeface="Calibri" pitchFamily="34" charset="-122"/>
                <a:cs typeface="Calibri" pitchFamily="34" charset="-120"/>
              </a:rPr>
              <a:t>Summer Semester 2026</a:t>
            </a:r>
            <a:endParaRPr lang="en-US" sz="1400"/>
          </a:p>
        </p:txBody>
      </p:sp>
      <p:sp>
        <p:nvSpPr>
          <p:cNvPr id="8" name="Shape 5"/>
          <p:cNvSpPr/>
          <p:nvPr/>
        </p:nvSpPr>
        <p:spPr>
          <a:xfrm>
            <a:off x="365760" y="3657600"/>
            <a:ext cx="4480560" cy="1188720"/>
          </a:xfrm>
          <a:prstGeom prst="roundRect">
            <a:avLst>
              <a:gd name="adj" fmla="val 7692"/>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sp>
        <p:nvSpPr>
          <p:cNvPr id="9" name="Text 6"/>
          <p:cNvSpPr/>
          <p:nvPr/>
        </p:nvSpPr>
        <p:spPr>
          <a:xfrm>
            <a:off x="502920" y="3749040"/>
            <a:ext cx="4206240" cy="411480"/>
          </a:xfrm>
          <a:prstGeom prst="rect">
            <a:avLst/>
          </a:prstGeom>
          <a:noFill/>
          <a:ln/>
        </p:spPr>
        <p:txBody>
          <a:bodyPr wrap="square" lIns="0" tIns="0" rIns="0" bIns="0" rtlCol="0" anchor="ctr"/>
          <a:lstStyle/>
          <a:p>
            <a:pPr marL="0" indent="0">
              <a:buNone/>
            </a:pPr>
            <a:r>
              <a:rPr lang="en-US" sz="1200" b="1">
                <a:solidFill>
                  <a:srgbClr val="94D2BD"/>
                </a:solidFill>
                <a:latin typeface="Calibri" pitchFamily="34" charset="0"/>
                <a:ea typeface="Calibri" pitchFamily="34" charset="-122"/>
                <a:cs typeface="Calibri" pitchFamily="34" charset="-120"/>
              </a:rPr>
              <a:t>Team  </a:t>
            </a:r>
            <a:r>
              <a:rPr lang="en-US" sz="1200">
                <a:solidFill>
                  <a:srgbClr val="FFFFFF"/>
                </a:solidFill>
                <a:latin typeface="Calibri" pitchFamily="34" charset="0"/>
                <a:ea typeface="Calibri" pitchFamily="34" charset="-122"/>
                <a:cs typeface="Calibri" pitchFamily="34" charset="-120"/>
              </a:rPr>
              <a:t>Denis Vasilev  ·  Adam Ryan  ·  Aidan Ryan  ·  Nora Cerveny</a:t>
            </a:r>
            <a:endParaRPr lang="en-US" sz="1200"/>
          </a:p>
        </p:txBody>
      </p:sp>
      <p:sp>
        <p:nvSpPr>
          <p:cNvPr id="10" name="Text 7"/>
          <p:cNvSpPr/>
          <p:nvPr/>
        </p:nvSpPr>
        <p:spPr>
          <a:xfrm>
            <a:off x="502920" y="4160520"/>
            <a:ext cx="4206240" cy="320040"/>
          </a:xfrm>
          <a:prstGeom prst="rect">
            <a:avLst/>
          </a:prstGeom>
          <a:noFill/>
          <a:ln/>
        </p:spPr>
        <p:txBody>
          <a:bodyPr wrap="square" lIns="0" tIns="0" rIns="0" bIns="0" rtlCol="0" anchor="ctr"/>
          <a:lstStyle/>
          <a:p>
            <a:pPr marL="0" indent="0">
              <a:buNone/>
            </a:pPr>
            <a:r>
              <a:rPr lang="en-US" sz="1100" i="1">
                <a:solidFill>
                  <a:srgbClr val="D0D0D0"/>
                </a:solidFill>
                <a:latin typeface="Calibri" pitchFamily="34" charset="0"/>
                <a:ea typeface="Calibri" pitchFamily="34" charset="-122"/>
                <a:cs typeface="Calibri" pitchFamily="34" charset="-120"/>
              </a:rPr>
              <a:t>IMC Krems University of Applied Sciences</a:t>
            </a:r>
            <a:endParaRPr lang="en-US" sz="1100"/>
          </a:p>
        </p:txBody>
      </p:sp>
      <p:pic>
        <p:nvPicPr>
          <p:cNvPr id="11" name="Picture 10" descr="A black robot with a white tape on it&#10;&#10;AI-generated content may be incorrect.">
            <a:extLst>
              <a:ext uri="{FF2B5EF4-FFF2-40B4-BE49-F238E27FC236}">
                <a16:creationId xmlns:a16="http://schemas.microsoft.com/office/drawing/2014/main" id="{0390CBB6-B464-207A-E2B8-4B3C00DFCC76}"/>
              </a:ext>
            </a:extLst>
          </p:cNvPr>
          <p:cNvPicPr>
            <a:picLocks noChangeAspect="1"/>
          </p:cNvPicPr>
          <p:nvPr/>
        </p:nvPicPr>
        <p:blipFill>
          <a:blip r:embed="rId3"/>
          <a:srcRect l="12254" t="-2983" r="28436" b="874"/>
          <a:stretch>
            <a:fillRect/>
          </a:stretch>
        </p:blipFill>
        <p:spPr>
          <a:xfrm>
            <a:off x="5078185" y="895347"/>
            <a:ext cx="3930907" cy="3237959"/>
          </a:xfrm>
          <a:prstGeom prst="rect">
            <a:avLst/>
          </a:prstGeom>
        </p:spPr>
      </p:pic>
      <p:sp>
        <p:nvSpPr>
          <p:cNvPr id="4" name="Shape 1"/>
          <p:cNvSpPr/>
          <p:nvPr/>
        </p:nvSpPr>
        <p:spPr>
          <a:xfrm>
            <a:off x="5060770" y="239486"/>
            <a:ext cx="3960220" cy="4581796"/>
          </a:xfrm>
          <a:prstGeom prst="rect">
            <a:avLst/>
          </a:prstGeom>
          <a:solidFill>
            <a:srgbClr val="0D1B2A">
              <a:alpha val="70000"/>
            </a:srgbClr>
          </a:solidFill>
          <a:ln w="12700">
            <a:solidFill>
              <a:srgbClr val="0D1B2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400" b="1">
                <a:solidFill>
                  <a:srgbClr val="0D1B2A"/>
                </a:solidFill>
                <a:latin typeface="Cambria" pitchFamily="34" charset="0"/>
                <a:ea typeface="Cambria" pitchFamily="34" charset="-122"/>
                <a:cs typeface="Cambria" pitchFamily="34" charset="-120"/>
              </a:rPr>
              <a:t>Why Build a Self-Driving Robot?</a:t>
            </a:r>
            <a:endParaRPr lang="en-US" sz="3400"/>
          </a:p>
        </p:txBody>
      </p:sp>
      <p:sp>
        <p:nvSpPr>
          <p:cNvPr id="3" name="Shape 1"/>
          <p:cNvSpPr/>
          <p:nvPr/>
        </p:nvSpPr>
        <p:spPr>
          <a:xfrm>
            <a:off x="274320" y="914400"/>
            <a:ext cx="2651760" cy="3566160"/>
          </a:xfrm>
          <a:prstGeom prst="roundRect">
            <a:avLst>
              <a:gd name="adj" fmla="val 4138"/>
            </a:avLst>
          </a:prstGeom>
          <a:solidFill>
            <a:srgbClr val="FFFFFF"/>
          </a:solidFill>
          <a:ln w="19050">
            <a:solidFill>
              <a:srgbClr val="94D2BD"/>
            </a:solidFill>
            <a:prstDash val="solid"/>
          </a:ln>
          <a:effectLst>
            <a:outerShdw blurRad="101600" dist="38100" dir="2700000" algn="bl" rotWithShape="0">
              <a:srgbClr val="000000">
                <a:alpha val="18000"/>
              </a:srgbClr>
            </a:outerShdw>
          </a:effectLst>
        </p:spPr>
      </p:sp>
      <p:pic>
        <p:nvPicPr>
          <p:cNvPr id="4" name="Image 0" descr="preencoded.png"/>
          <p:cNvPicPr>
            <a:picLocks noChangeAspect="1"/>
          </p:cNvPicPr>
          <p:nvPr/>
        </p:nvPicPr>
        <p:blipFill>
          <a:blip r:embed="rId3"/>
          <a:stretch>
            <a:fillRect/>
          </a:stretch>
        </p:blipFill>
        <p:spPr>
          <a:xfrm>
            <a:off x="1280160" y="1051560"/>
            <a:ext cx="640080" cy="640080"/>
          </a:xfrm>
          <a:prstGeom prst="rect">
            <a:avLst/>
          </a:prstGeom>
        </p:spPr>
      </p:pic>
      <p:sp>
        <p:nvSpPr>
          <p:cNvPr id="5" name="Text 2"/>
          <p:cNvSpPr/>
          <p:nvPr/>
        </p:nvSpPr>
        <p:spPr>
          <a:xfrm>
            <a:off x="411480" y="1737360"/>
            <a:ext cx="2377440" cy="502920"/>
          </a:xfrm>
          <a:prstGeom prst="rect">
            <a:avLst/>
          </a:prstGeom>
          <a:noFill/>
          <a:ln/>
        </p:spPr>
        <p:txBody>
          <a:bodyPr wrap="square" lIns="0" tIns="0" rIns="0" bIns="0" rtlCol="0" anchor="ctr"/>
          <a:lstStyle/>
          <a:p>
            <a:pPr marL="0" indent="0" algn="ctr">
              <a:buNone/>
            </a:pPr>
            <a:r>
              <a:rPr lang="en-US" sz="1400" b="1">
                <a:solidFill>
                  <a:srgbClr val="005F73"/>
                </a:solidFill>
                <a:latin typeface="Cambria" pitchFamily="34" charset="0"/>
                <a:ea typeface="Cambria" pitchFamily="34" charset="-122"/>
                <a:cs typeface="Cambria" pitchFamily="34" charset="-120"/>
              </a:rPr>
              <a:t>The Big Picture</a:t>
            </a:r>
            <a:endParaRPr lang="en-US" sz="1400"/>
          </a:p>
        </p:txBody>
      </p:sp>
      <p:sp>
        <p:nvSpPr>
          <p:cNvPr id="6" name="Text 3"/>
          <p:cNvSpPr/>
          <p:nvPr/>
        </p:nvSpPr>
        <p:spPr>
          <a:xfrm>
            <a:off x="411480" y="2286000"/>
            <a:ext cx="2377440" cy="2011680"/>
          </a:xfrm>
          <a:prstGeom prst="rect">
            <a:avLst/>
          </a:prstGeom>
          <a:noFill/>
          <a:ln/>
        </p:spPr>
        <p:txBody>
          <a:bodyPr wrap="square" lIns="0" tIns="0" rIns="0" bIns="0" rtlCol="0" anchor="t"/>
          <a:lstStyle/>
          <a:p>
            <a:pPr marL="0" indent="0" algn="l">
              <a:buNone/>
            </a:pPr>
            <a:r>
              <a:rPr lang="en-US" sz="1200">
                <a:solidFill>
                  <a:srgbClr val="2D3748"/>
                </a:solidFill>
                <a:latin typeface="Calibri" pitchFamily="34" charset="0"/>
                <a:ea typeface="Calibri" pitchFamily="34" charset="-122"/>
                <a:cs typeface="Calibri" pitchFamily="34" charset="-120"/>
              </a:rPr>
              <a:t>Self-driving vehicles could free up billions of hours of commuting, cut road accidents, and reduce fuel waste. But making them work reliably is still an open challenge.</a:t>
            </a:r>
            <a:endParaRPr lang="en-US" sz="1200"/>
          </a:p>
        </p:txBody>
      </p:sp>
      <p:sp>
        <p:nvSpPr>
          <p:cNvPr id="7" name="Shape 4"/>
          <p:cNvSpPr/>
          <p:nvPr/>
        </p:nvSpPr>
        <p:spPr>
          <a:xfrm>
            <a:off x="3154680" y="914400"/>
            <a:ext cx="2651760" cy="3566160"/>
          </a:xfrm>
          <a:prstGeom prst="roundRect">
            <a:avLst>
              <a:gd name="adj" fmla="val 4138"/>
            </a:avLst>
          </a:prstGeom>
          <a:solidFill>
            <a:srgbClr val="FFFFFF"/>
          </a:solidFill>
          <a:ln w="19050">
            <a:solidFill>
              <a:srgbClr val="94D2BD"/>
            </a:solidFill>
            <a:prstDash val="solid"/>
          </a:ln>
          <a:effectLst>
            <a:outerShdw blurRad="101600" dist="38100" dir="2700000" algn="bl" rotWithShape="0">
              <a:srgbClr val="000000">
                <a:alpha val="18000"/>
              </a:srgbClr>
            </a:outerShdw>
          </a:effectLst>
        </p:spPr>
      </p:sp>
      <p:pic>
        <p:nvPicPr>
          <p:cNvPr id="8" name="Image 1" descr="preencoded.png"/>
          <p:cNvPicPr>
            <a:picLocks noChangeAspect="1"/>
          </p:cNvPicPr>
          <p:nvPr/>
        </p:nvPicPr>
        <p:blipFill>
          <a:blip r:embed="rId4"/>
          <a:stretch>
            <a:fillRect/>
          </a:stretch>
        </p:blipFill>
        <p:spPr>
          <a:xfrm>
            <a:off x="4160520" y="1051560"/>
            <a:ext cx="640080" cy="640080"/>
          </a:xfrm>
          <a:prstGeom prst="rect">
            <a:avLst/>
          </a:prstGeom>
        </p:spPr>
      </p:pic>
      <p:sp>
        <p:nvSpPr>
          <p:cNvPr id="9" name="Text 5"/>
          <p:cNvSpPr/>
          <p:nvPr/>
        </p:nvSpPr>
        <p:spPr>
          <a:xfrm>
            <a:off x="3291840" y="1737360"/>
            <a:ext cx="2377440" cy="502920"/>
          </a:xfrm>
          <a:prstGeom prst="rect">
            <a:avLst/>
          </a:prstGeom>
          <a:noFill/>
          <a:ln/>
        </p:spPr>
        <p:txBody>
          <a:bodyPr wrap="square" lIns="0" tIns="0" rIns="0" bIns="0" rtlCol="0" anchor="ctr"/>
          <a:lstStyle/>
          <a:p>
            <a:pPr marL="0" indent="0" algn="ctr">
              <a:buNone/>
            </a:pPr>
            <a:r>
              <a:rPr lang="en-US" sz="1400" b="1">
                <a:solidFill>
                  <a:srgbClr val="005F73"/>
                </a:solidFill>
                <a:latin typeface="Cambria" pitchFamily="34" charset="0"/>
                <a:ea typeface="Cambria" pitchFamily="34" charset="-122"/>
                <a:cs typeface="Cambria" pitchFamily="34" charset="-120"/>
              </a:rPr>
              <a:t>The Sensor Challenge</a:t>
            </a:r>
            <a:endParaRPr lang="en-US" sz="1400"/>
          </a:p>
        </p:txBody>
      </p:sp>
      <p:sp>
        <p:nvSpPr>
          <p:cNvPr id="10" name="Text 6"/>
          <p:cNvSpPr/>
          <p:nvPr/>
        </p:nvSpPr>
        <p:spPr>
          <a:xfrm>
            <a:off x="3291840" y="2286000"/>
            <a:ext cx="2377440" cy="2011680"/>
          </a:xfrm>
          <a:prstGeom prst="rect">
            <a:avLst/>
          </a:prstGeom>
          <a:noFill/>
          <a:ln/>
        </p:spPr>
        <p:txBody>
          <a:bodyPr wrap="square" lIns="0" tIns="0" rIns="0" bIns="0" rtlCol="0" anchor="t"/>
          <a:lstStyle/>
          <a:p>
            <a:pPr marL="0" indent="0" algn="l">
              <a:buNone/>
            </a:pPr>
            <a:r>
              <a:rPr lang="en-US" sz="1200">
                <a:solidFill>
                  <a:srgbClr val="2D3748"/>
                </a:solidFill>
                <a:latin typeface="Calibri" pitchFamily="34" charset="0"/>
                <a:ea typeface="Calibri" pitchFamily="34" charset="-122"/>
                <a:cs typeface="Calibri" pitchFamily="34" charset="-120"/>
              </a:rPr>
              <a:t>Cars need to "see" the world — with cameras, radar, and lidar — and make split-second decisions even in bad weather, poor lighting, or unexpected obstacles.</a:t>
            </a:r>
            <a:endParaRPr lang="en-US" sz="1200"/>
          </a:p>
        </p:txBody>
      </p:sp>
      <p:sp>
        <p:nvSpPr>
          <p:cNvPr id="11" name="Shape 7"/>
          <p:cNvSpPr/>
          <p:nvPr/>
        </p:nvSpPr>
        <p:spPr>
          <a:xfrm>
            <a:off x="6035040" y="914400"/>
            <a:ext cx="2651760" cy="3566160"/>
          </a:xfrm>
          <a:prstGeom prst="roundRect">
            <a:avLst>
              <a:gd name="adj" fmla="val 4138"/>
            </a:avLst>
          </a:prstGeom>
          <a:solidFill>
            <a:srgbClr val="FFFFFF"/>
          </a:solidFill>
          <a:ln w="19050">
            <a:solidFill>
              <a:srgbClr val="94D2BD"/>
            </a:solidFill>
            <a:prstDash val="solid"/>
          </a:ln>
          <a:effectLst>
            <a:outerShdw blurRad="101600" dist="38100" dir="2700000" algn="bl" rotWithShape="0">
              <a:srgbClr val="000000">
                <a:alpha val="18000"/>
              </a:srgbClr>
            </a:outerShdw>
          </a:effectLst>
        </p:spPr>
      </p:sp>
      <p:pic>
        <p:nvPicPr>
          <p:cNvPr id="12" name="Image 2" descr="preencoded.png"/>
          <p:cNvPicPr>
            <a:picLocks noChangeAspect="1"/>
          </p:cNvPicPr>
          <p:nvPr/>
        </p:nvPicPr>
        <p:blipFill>
          <a:blip r:embed="rId5"/>
          <a:stretch>
            <a:fillRect/>
          </a:stretch>
        </p:blipFill>
        <p:spPr>
          <a:xfrm>
            <a:off x="7040880" y="1051560"/>
            <a:ext cx="640080" cy="640080"/>
          </a:xfrm>
          <a:prstGeom prst="rect">
            <a:avLst/>
          </a:prstGeom>
        </p:spPr>
      </p:pic>
      <p:sp>
        <p:nvSpPr>
          <p:cNvPr id="13" name="Text 8"/>
          <p:cNvSpPr/>
          <p:nvPr/>
        </p:nvSpPr>
        <p:spPr>
          <a:xfrm>
            <a:off x="6172200" y="1737360"/>
            <a:ext cx="2377440" cy="502920"/>
          </a:xfrm>
          <a:prstGeom prst="rect">
            <a:avLst/>
          </a:prstGeom>
          <a:noFill/>
          <a:ln/>
        </p:spPr>
        <p:txBody>
          <a:bodyPr wrap="square" lIns="0" tIns="0" rIns="0" bIns="0" rtlCol="0" anchor="ctr"/>
          <a:lstStyle/>
          <a:p>
            <a:pPr marL="0" indent="0" algn="ctr">
              <a:buNone/>
            </a:pPr>
            <a:r>
              <a:rPr lang="en-US" sz="1400" b="1">
                <a:solidFill>
                  <a:srgbClr val="005F73"/>
                </a:solidFill>
                <a:latin typeface="Cambria" pitchFamily="34" charset="0"/>
                <a:ea typeface="Cambria" pitchFamily="34" charset="-122"/>
                <a:cs typeface="Cambria" pitchFamily="34" charset="-120"/>
              </a:rPr>
              <a:t>Our Contribution</a:t>
            </a:r>
            <a:endParaRPr lang="en-US" sz="1400"/>
          </a:p>
        </p:txBody>
      </p:sp>
      <p:sp>
        <p:nvSpPr>
          <p:cNvPr id="14" name="Text 9"/>
          <p:cNvSpPr/>
          <p:nvPr/>
        </p:nvSpPr>
        <p:spPr>
          <a:xfrm>
            <a:off x="6172200" y="2286000"/>
            <a:ext cx="2377440" cy="2011680"/>
          </a:xfrm>
          <a:prstGeom prst="rect">
            <a:avLst/>
          </a:prstGeom>
          <a:noFill/>
          <a:ln/>
        </p:spPr>
        <p:txBody>
          <a:bodyPr wrap="square" lIns="0" tIns="0" rIns="0" bIns="0" rtlCol="0" anchor="t"/>
          <a:lstStyle/>
          <a:p>
            <a:pPr marL="0" indent="0" algn="l">
              <a:buNone/>
            </a:pPr>
            <a:r>
              <a:rPr lang="en-US" sz="1200">
                <a:solidFill>
                  <a:srgbClr val="2D3748"/>
                </a:solidFill>
                <a:latin typeface="Calibri" pitchFamily="34" charset="0"/>
                <a:ea typeface="Calibri" pitchFamily="34" charset="-122"/>
                <a:cs typeface="Calibri" pitchFamily="34" charset="-120"/>
              </a:rPr>
              <a:t>We built a miniature version of this problem: a tracked robot that uses a camera and AI to navigate its environment — detecting lanes, recognizing objects, and steering itself.</a:t>
            </a:r>
            <a:endParaRPr lang="en-US" sz="1200"/>
          </a:p>
        </p:txBody>
      </p:sp>
      <p:sp>
        <p:nvSpPr>
          <p:cNvPr id="15" name="Text 10"/>
          <p:cNvSpPr/>
          <p:nvPr/>
        </p:nvSpPr>
        <p:spPr>
          <a:xfrm>
            <a:off x="365760" y="4663440"/>
            <a:ext cx="8412480" cy="320040"/>
          </a:xfrm>
          <a:prstGeom prst="rect">
            <a:avLst/>
          </a:prstGeom>
          <a:noFill/>
          <a:ln/>
        </p:spPr>
        <p:txBody>
          <a:bodyPr wrap="square" lIns="0" tIns="0" rIns="0" bIns="0" rtlCol="0" anchor="ctr"/>
          <a:lstStyle/>
          <a:p>
            <a:pPr marL="0" indent="0">
              <a:buNone/>
            </a:pPr>
            <a:r>
              <a:rPr lang="en-US" sz="1200" i="1">
                <a:solidFill>
                  <a:srgbClr val="718096"/>
                </a:solidFill>
                <a:latin typeface="Calibri" pitchFamily="34" charset="0"/>
                <a:ea typeface="Calibri" pitchFamily="34" charset="-122"/>
                <a:cs typeface="Calibri" pitchFamily="34" charset="-120"/>
              </a:rPr>
              <a:t>Think of this project as a 1:20 scale test bench for real autonomous driving research.</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400" b="1">
                <a:solidFill>
                  <a:srgbClr val="0D1B2A"/>
                </a:solidFill>
                <a:latin typeface="Cambria" pitchFamily="34" charset="0"/>
                <a:ea typeface="Cambria" pitchFamily="34" charset="-122"/>
                <a:cs typeface="Cambria" pitchFamily="34" charset="-120"/>
              </a:rPr>
              <a:t>Meet the Team</a:t>
            </a:r>
            <a:endParaRPr lang="en-US" sz="3400"/>
          </a:p>
        </p:txBody>
      </p:sp>
      <p:sp>
        <p:nvSpPr>
          <p:cNvPr id="3" name="Shape 1"/>
          <p:cNvSpPr/>
          <p:nvPr/>
        </p:nvSpPr>
        <p:spPr>
          <a:xfrm>
            <a:off x="274320" y="914400"/>
            <a:ext cx="3977640" cy="3931920"/>
          </a:xfrm>
          <a:prstGeom prst="roundRect">
            <a:avLst>
              <a:gd name="adj" fmla="val 3488"/>
            </a:avLst>
          </a:prstGeom>
          <a:solidFill>
            <a:srgbClr val="005F73"/>
          </a:solidFill>
          <a:ln w="12700">
            <a:solidFill>
              <a:srgbClr val="005F73"/>
            </a:solidFill>
            <a:prstDash val="solid"/>
          </a:ln>
          <a:effectLst>
            <a:outerShdw blurRad="101600" dist="38100" dir="2700000" algn="bl" rotWithShape="0">
              <a:srgbClr val="000000">
                <a:alpha val="18000"/>
              </a:srgbClr>
            </a:outerShdw>
          </a:effectLst>
        </p:spPr>
      </p:sp>
      <p:pic>
        <p:nvPicPr>
          <p:cNvPr id="4" name="Image 0" descr="preencoded.png"/>
          <p:cNvPicPr>
            <a:picLocks noChangeAspect="1"/>
          </p:cNvPicPr>
          <p:nvPr/>
        </p:nvPicPr>
        <p:blipFill>
          <a:blip r:embed="rId3"/>
          <a:stretch>
            <a:fillRect/>
          </a:stretch>
        </p:blipFill>
        <p:spPr>
          <a:xfrm>
            <a:off x="1968137" y="1097280"/>
            <a:ext cx="594360" cy="594360"/>
          </a:xfrm>
          <a:prstGeom prst="rect">
            <a:avLst/>
          </a:prstGeom>
        </p:spPr>
      </p:pic>
      <p:sp>
        <p:nvSpPr>
          <p:cNvPr id="5" name="Text 2"/>
          <p:cNvSpPr/>
          <p:nvPr/>
        </p:nvSpPr>
        <p:spPr>
          <a:xfrm>
            <a:off x="457200" y="1737360"/>
            <a:ext cx="3611880" cy="45720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Hardware Team</a:t>
            </a:r>
            <a:endParaRPr lang="en-US" sz="1800"/>
          </a:p>
        </p:txBody>
      </p:sp>
      <p:sp>
        <p:nvSpPr>
          <p:cNvPr id="6" name="Shape 3"/>
          <p:cNvSpPr/>
          <p:nvPr/>
        </p:nvSpPr>
        <p:spPr>
          <a:xfrm>
            <a:off x="457200" y="2286000"/>
            <a:ext cx="3611880" cy="292608"/>
          </a:xfrm>
          <a:prstGeom prst="roundRect">
            <a:avLst>
              <a:gd name="adj" fmla="val 15625"/>
            </a:avLst>
          </a:prstGeom>
          <a:solidFill>
            <a:srgbClr val="FFFFFF">
              <a:alpha val="15000"/>
            </a:srgbClr>
          </a:solidFill>
          <a:ln w="12700">
            <a:solidFill>
              <a:srgbClr val="FFFFFF"/>
            </a:solidFill>
            <a:prstDash val="solid"/>
          </a:ln>
        </p:spPr>
      </p:sp>
      <p:sp>
        <p:nvSpPr>
          <p:cNvPr id="7" name="Text 4"/>
          <p:cNvSpPr/>
          <p:nvPr/>
        </p:nvSpPr>
        <p:spPr>
          <a:xfrm>
            <a:off x="548640" y="2313432"/>
            <a:ext cx="3429000"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Denis Vasilev</a:t>
            </a:r>
            <a:endParaRPr lang="en-US" sz="1200"/>
          </a:p>
        </p:txBody>
      </p:sp>
      <p:sp>
        <p:nvSpPr>
          <p:cNvPr id="8" name="Shape 5"/>
          <p:cNvSpPr/>
          <p:nvPr/>
        </p:nvSpPr>
        <p:spPr>
          <a:xfrm>
            <a:off x="457200" y="2651760"/>
            <a:ext cx="3611880" cy="292608"/>
          </a:xfrm>
          <a:prstGeom prst="roundRect">
            <a:avLst>
              <a:gd name="adj" fmla="val 15625"/>
            </a:avLst>
          </a:prstGeom>
          <a:solidFill>
            <a:srgbClr val="FFFFFF">
              <a:alpha val="15000"/>
            </a:srgbClr>
          </a:solidFill>
          <a:ln w="12700">
            <a:solidFill>
              <a:srgbClr val="FFFFFF"/>
            </a:solidFill>
            <a:prstDash val="solid"/>
          </a:ln>
        </p:spPr>
      </p:sp>
      <p:sp>
        <p:nvSpPr>
          <p:cNvPr id="9" name="Text 6"/>
          <p:cNvSpPr/>
          <p:nvPr/>
        </p:nvSpPr>
        <p:spPr>
          <a:xfrm>
            <a:off x="548640" y="2679192"/>
            <a:ext cx="3429000" cy="237744"/>
          </a:xfrm>
          <a:prstGeom prst="rect">
            <a:avLst/>
          </a:prstGeom>
          <a:noFill/>
          <a:ln/>
        </p:spPr>
        <p:txBody>
          <a:bodyPr wrap="square" lIns="0" tIns="0" rIns="0" bIns="0" rtlCol="0" anchor="ctr"/>
          <a:lstStyle/>
          <a:p>
            <a:r>
              <a:rPr lang="en-US" sz="1200" b="1">
                <a:solidFill>
                  <a:srgbClr val="FFFFFF"/>
                </a:solidFill>
                <a:latin typeface="Calibri"/>
                <a:ea typeface="Calibri"/>
                <a:cs typeface="Calibri"/>
              </a:rPr>
              <a:t>Nora Cerveny</a:t>
            </a:r>
            <a:endParaRPr lang="en-US"/>
          </a:p>
        </p:txBody>
      </p:sp>
      <p:sp>
        <p:nvSpPr>
          <p:cNvPr id="10" name="Text 7"/>
          <p:cNvSpPr/>
          <p:nvPr/>
        </p:nvSpPr>
        <p:spPr>
          <a:xfrm>
            <a:off x="457200" y="3063240"/>
            <a:ext cx="3611880" cy="1645920"/>
          </a:xfrm>
          <a:prstGeom prst="rect">
            <a:avLst/>
          </a:prstGeom>
          <a:noFill/>
          <a:ln/>
        </p:spPr>
        <p:txBody>
          <a:bodyPr wrap="square" lIns="0" tIns="0" rIns="0" bIns="0" rtlCol="0" anchor="ctr"/>
          <a:lstStyle/>
          <a:p>
            <a:pPr marL="342900" indent="-342900">
              <a:buSzPct val="100000"/>
              <a:buChar char="•"/>
            </a:pPr>
            <a:r>
              <a:rPr lang="en-US" sz="1150">
                <a:solidFill>
                  <a:srgbClr val="94D2BD"/>
                </a:solidFill>
                <a:latin typeface="Calibri" pitchFamily="34" charset="0"/>
                <a:ea typeface="Calibri" pitchFamily="34" charset="-122"/>
                <a:cs typeface="Calibri" pitchFamily="34" charset="-120"/>
              </a:rPr>
              <a:t>Assembled the physical robot chassis</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Flashed &amp; configured the operating system</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Solved WiFi driver &amp; power compatibility issues</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Got the camera and servo arm working</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Wired up and tested all electronic components</a:t>
            </a:r>
            <a:endParaRPr lang="en-US" sz="1150"/>
          </a:p>
        </p:txBody>
      </p:sp>
      <p:sp>
        <p:nvSpPr>
          <p:cNvPr id="11" name="Shape 8"/>
          <p:cNvSpPr/>
          <p:nvPr/>
        </p:nvSpPr>
        <p:spPr>
          <a:xfrm>
            <a:off x="4892040" y="914400"/>
            <a:ext cx="3977640" cy="3931920"/>
          </a:xfrm>
          <a:prstGeom prst="roundRect">
            <a:avLst>
              <a:gd name="adj" fmla="val 3488"/>
            </a:avLst>
          </a:prstGeom>
          <a:solidFill>
            <a:srgbClr val="0D1B2A"/>
          </a:solidFill>
          <a:ln w="12700">
            <a:solidFill>
              <a:srgbClr val="0D1B2A"/>
            </a:solidFill>
            <a:prstDash val="solid"/>
          </a:ln>
          <a:effectLst>
            <a:outerShdw blurRad="101600" dist="38100" dir="2700000" algn="bl" rotWithShape="0">
              <a:srgbClr val="000000">
                <a:alpha val="18000"/>
              </a:srgbClr>
            </a:outerShdw>
          </a:effectLst>
        </p:spPr>
      </p:sp>
      <p:pic>
        <p:nvPicPr>
          <p:cNvPr id="12" name="Image 1" descr="preencoded.png"/>
          <p:cNvPicPr>
            <a:picLocks noChangeAspect="1"/>
          </p:cNvPicPr>
          <p:nvPr/>
        </p:nvPicPr>
        <p:blipFill>
          <a:blip r:embed="rId4"/>
          <a:stretch>
            <a:fillRect/>
          </a:stretch>
        </p:blipFill>
        <p:spPr>
          <a:xfrm>
            <a:off x="6585857" y="1097280"/>
            <a:ext cx="594360" cy="594360"/>
          </a:xfrm>
          <a:prstGeom prst="rect">
            <a:avLst/>
          </a:prstGeom>
        </p:spPr>
      </p:pic>
      <p:sp>
        <p:nvSpPr>
          <p:cNvPr id="13" name="Text 9"/>
          <p:cNvSpPr/>
          <p:nvPr/>
        </p:nvSpPr>
        <p:spPr>
          <a:xfrm>
            <a:off x="5074920" y="1737360"/>
            <a:ext cx="3611880" cy="45720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Software Team</a:t>
            </a:r>
            <a:endParaRPr lang="en-US" sz="1800"/>
          </a:p>
        </p:txBody>
      </p:sp>
      <p:sp>
        <p:nvSpPr>
          <p:cNvPr id="14" name="Shape 10"/>
          <p:cNvSpPr/>
          <p:nvPr/>
        </p:nvSpPr>
        <p:spPr>
          <a:xfrm>
            <a:off x="5074920" y="2286000"/>
            <a:ext cx="3611880" cy="292608"/>
          </a:xfrm>
          <a:prstGeom prst="roundRect">
            <a:avLst>
              <a:gd name="adj" fmla="val 15625"/>
            </a:avLst>
          </a:prstGeom>
          <a:solidFill>
            <a:srgbClr val="FFFFFF">
              <a:alpha val="15000"/>
            </a:srgbClr>
          </a:solidFill>
          <a:ln w="12700">
            <a:solidFill>
              <a:srgbClr val="FFFFFF"/>
            </a:solidFill>
            <a:prstDash val="solid"/>
          </a:ln>
        </p:spPr>
      </p:sp>
      <p:sp>
        <p:nvSpPr>
          <p:cNvPr id="15" name="Text 11"/>
          <p:cNvSpPr/>
          <p:nvPr/>
        </p:nvSpPr>
        <p:spPr>
          <a:xfrm>
            <a:off x="5166360" y="2313432"/>
            <a:ext cx="3429000"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Aidan Ryan</a:t>
            </a:r>
            <a:endParaRPr lang="en-US" sz="1200"/>
          </a:p>
        </p:txBody>
      </p:sp>
      <p:sp>
        <p:nvSpPr>
          <p:cNvPr id="16" name="Shape 12"/>
          <p:cNvSpPr/>
          <p:nvPr/>
        </p:nvSpPr>
        <p:spPr>
          <a:xfrm>
            <a:off x="5074920" y="2651760"/>
            <a:ext cx="3611880" cy="292608"/>
          </a:xfrm>
          <a:prstGeom prst="roundRect">
            <a:avLst>
              <a:gd name="adj" fmla="val 15625"/>
            </a:avLst>
          </a:prstGeom>
          <a:solidFill>
            <a:srgbClr val="FFFFFF">
              <a:alpha val="15000"/>
            </a:srgbClr>
          </a:solidFill>
          <a:ln w="12700">
            <a:solidFill>
              <a:srgbClr val="FFFFFF"/>
            </a:solidFill>
            <a:prstDash val="solid"/>
          </a:ln>
        </p:spPr>
      </p:sp>
      <p:sp>
        <p:nvSpPr>
          <p:cNvPr id="17" name="Text 13"/>
          <p:cNvSpPr/>
          <p:nvPr/>
        </p:nvSpPr>
        <p:spPr>
          <a:xfrm>
            <a:off x="5166360" y="2679192"/>
            <a:ext cx="3429000" cy="237744"/>
          </a:xfrm>
          <a:prstGeom prst="rect">
            <a:avLst/>
          </a:prstGeom>
          <a:noFill/>
          <a:ln/>
        </p:spPr>
        <p:txBody>
          <a:bodyPr wrap="square" lIns="0" tIns="0" rIns="0" bIns="0" rtlCol="0" anchor="ctr"/>
          <a:lstStyle/>
          <a:p>
            <a:r>
              <a:rPr lang="en-US" sz="1200" b="1">
                <a:solidFill>
                  <a:srgbClr val="FFFFFF"/>
                </a:solidFill>
                <a:latin typeface="Calibri"/>
                <a:ea typeface="Calibri"/>
                <a:cs typeface="Calibri"/>
              </a:rPr>
              <a:t>Adam Ryan</a:t>
            </a:r>
            <a:endParaRPr lang="en-US"/>
          </a:p>
        </p:txBody>
      </p:sp>
      <p:sp>
        <p:nvSpPr>
          <p:cNvPr id="18" name="Text 14"/>
          <p:cNvSpPr/>
          <p:nvPr/>
        </p:nvSpPr>
        <p:spPr>
          <a:xfrm>
            <a:off x="5074920" y="3063240"/>
            <a:ext cx="3611880" cy="1645920"/>
          </a:xfrm>
          <a:prstGeom prst="rect">
            <a:avLst/>
          </a:prstGeom>
          <a:noFill/>
          <a:ln/>
        </p:spPr>
        <p:txBody>
          <a:bodyPr wrap="square" lIns="0" tIns="0" rIns="0" bIns="0" rtlCol="0" anchor="ctr"/>
          <a:lstStyle/>
          <a:p>
            <a:pPr marL="342900" indent="-342900">
              <a:buSzPct val="100000"/>
              <a:buChar char="•"/>
            </a:pPr>
            <a:r>
              <a:rPr lang="en-US" sz="1150">
                <a:solidFill>
                  <a:srgbClr val="94D2BD"/>
                </a:solidFill>
                <a:latin typeface="Calibri" pitchFamily="34" charset="0"/>
                <a:ea typeface="Calibri" pitchFamily="34" charset="-122"/>
                <a:cs typeface="Calibri" pitchFamily="34" charset="-120"/>
              </a:rPr>
              <a:t>Set up Python AI environment (CUDA, TensorRT)</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Integrated the YOLO object detection model</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Developed lane detection software pipeline</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Built the logic to fuse sensor data for decisions</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Planned the autonomous control architecture</a:t>
            </a:r>
            <a:endParaRPr lang="en-US" sz="1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400" b="1">
                <a:solidFill>
                  <a:srgbClr val="FFFFFF"/>
                </a:solidFill>
                <a:latin typeface="Cambria" pitchFamily="34" charset="0"/>
                <a:ea typeface="Cambria" pitchFamily="34" charset="-122"/>
                <a:cs typeface="Cambria" pitchFamily="34" charset="-120"/>
              </a:rPr>
              <a:t>The Robot — What's Inside?</a:t>
            </a:r>
            <a:endParaRPr lang="en-US" sz="3400"/>
          </a:p>
        </p:txBody>
      </p:sp>
      <p:sp>
        <p:nvSpPr>
          <p:cNvPr id="4" name="Shape 1"/>
          <p:cNvSpPr/>
          <p:nvPr/>
        </p:nvSpPr>
        <p:spPr>
          <a:xfrm>
            <a:off x="4572000" y="822960"/>
            <a:ext cx="4251960" cy="749808"/>
          </a:xfrm>
          <a:prstGeom prst="roundRect">
            <a:avLst>
              <a:gd name="adj" fmla="val 9756"/>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sp>
        <p:nvSpPr>
          <p:cNvPr id="5" name="Text 2"/>
          <p:cNvSpPr/>
          <p:nvPr/>
        </p:nvSpPr>
        <p:spPr>
          <a:xfrm>
            <a:off x="4709160" y="850392"/>
            <a:ext cx="822960" cy="320040"/>
          </a:xfrm>
          <a:prstGeom prst="rect">
            <a:avLst/>
          </a:prstGeom>
          <a:noFill/>
          <a:ln/>
        </p:spPr>
        <p:txBody>
          <a:bodyPr wrap="square" lIns="0" tIns="0" rIns="0" bIns="0" rtlCol="0" anchor="ctr"/>
          <a:lstStyle/>
          <a:p>
            <a:pPr marL="0" indent="0">
              <a:buNone/>
            </a:pPr>
            <a:r>
              <a:rPr lang="en-US" sz="900" b="1" kern="0" spc="150">
                <a:solidFill>
                  <a:srgbClr val="0A9396"/>
                </a:solidFill>
                <a:latin typeface="Calibri" pitchFamily="34" charset="0"/>
                <a:ea typeface="Calibri" pitchFamily="34" charset="-122"/>
                <a:cs typeface="Calibri" pitchFamily="34" charset="-120"/>
              </a:rPr>
              <a:t>BRAIN</a:t>
            </a:r>
            <a:endParaRPr lang="en-US" sz="900"/>
          </a:p>
        </p:txBody>
      </p:sp>
      <p:sp>
        <p:nvSpPr>
          <p:cNvPr id="6" name="Text 3"/>
          <p:cNvSpPr/>
          <p:nvPr/>
        </p:nvSpPr>
        <p:spPr>
          <a:xfrm>
            <a:off x="4709160" y="1152144"/>
            <a:ext cx="3977640" cy="365760"/>
          </a:xfrm>
          <a:prstGeom prst="rect">
            <a:avLst/>
          </a:prstGeom>
          <a:noFill/>
          <a:ln/>
        </p:spPr>
        <p:txBody>
          <a:bodyPr wrap="square" lIns="0" tIns="0" rIns="0" bIns="0" rtlCol="0" anchor="ctr"/>
          <a:lstStyle/>
          <a:p>
            <a:pPr marL="0" indent="0">
              <a:buNone/>
            </a:pPr>
            <a:r>
              <a:rPr lang="en-US" sz="1150">
                <a:solidFill>
                  <a:srgbClr val="D0D0D0"/>
                </a:solidFill>
                <a:latin typeface="Calibri" pitchFamily="34" charset="0"/>
                <a:ea typeface="Calibri" pitchFamily="34" charset="-122"/>
                <a:cs typeface="Calibri" pitchFamily="34" charset="-120"/>
              </a:rPr>
              <a:t>NVIDIA Jetson Orin Nano Super — AI chip with 1024 GPU cores</a:t>
            </a:r>
            <a:endParaRPr lang="en-US" sz="1150"/>
          </a:p>
        </p:txBody>
      </p:sp>
      <p:sp>
        <p:nvSpPr>
          <p:cNvPr id="7" name="Shape 4"/>
          <p:cNvSpPr/>
          <p:nvPr/>
        </p:nvSpPr>
        <p:spPr>
          <a:xfrm>
            <a:off x="4572000" y="1664208"/>
            <a:ext cx="4251960" cy="749808"/>
          </a:xfrm>
          <a:prstGeom prst="roundRect">
            <a:avLst>
              <a:gd name="adj" fmla="val 9756"/>
            </a:avLst>
          </a:prstGeom>
          <a:solidFill>
            <a:srgbClr val="1A2744"/>
          </a:solidFill>
          <a:ln w="12700">
            <a:solidFill>
              <a:srgbClr val="0A9396"/>
            </a:solidFill>
            <a:prstDash val="solid"/>
          </a:ln>
          <a:effectLst>
            <a:outerShdw blurRad="101600" dist="38100" dir="2700000" algn="bl" rotWithShape="0">
              <a:srgbClr val="000000">
                <a:alpha val="18000"/>
              </a:srgbClr>
            </a:outerShdw>
          </a:effectLst>
        </p:spPr>
      </p:sp>
      <p:sp>
        <p:nvSpPr>
          <p:cNvPr id="8" name="Text 5"/>
          <p:cNvSpPr/>
          <p:nvPr/>
        </p:nvSpPr>
        <p:spPr>
          <a:xfrm>
            <a:off x="4709160" y="1691640"/>
            <a:ext cx="822960" cy="320040"/>
          </a:xfrm>
          <a:prstGeom prst="rect">
            <a:avLst/>
          </a:prstGeom>
          <a:noFill/>
          <a:ln/>
        </p:spPr>
        <p:txBody>
          <a:bodyPr wrap="square" lIns="0" tIns="0" rIns="0" bIns="0" rtlCol="0" anchor="ctr"/>
          <a:lstStyle/>
          <a:p>
            <a:pPr marL="0" indent="0">
              <a:buNone/>
            </a:pPr>
            <a:r>
              <a:rPr lang="en-US" sz="900" b="1" kern="0" spc="150">
                <a:solidFill>
                  <a:srgbClr val="0A9396"/>
                </a:solidFill>
                <a:latin typeface="Calibri" pitchFamily="34" charset="0"/>
                <a:ea typeface="Calibri" pitchFamily="34" charset="-122"/>
                <a:cs typeface="Calibri" pitchFamily="34" charset="-120"/>
              </a:rPr>
              <a:t>EYES</a:t>
            </a:r>
            <a:endParaRPr lang="en-US" sz="900"/>
          </a:p>
        </p:txBody>
      </p:sp>
      <p:sp>
        <p:nvSpPr>
          <p:cNvPr id="9" name="Text 6"/>
          <p:cNvSpPr/>
          <p:nvPr/>
        </p:nvSpPr>
        <p:spPr>
          <a:xfrm>
            <a:off x="4709160" y="1993392"/>
            <a:ext cx="3977640" cy="365760"/>
          </a:xfrm>
          <a:prstGeom prst="rect">
            <a:avLst/>
          </a:prstGeom>
          <a:noFill/>
          <a:ln/>
        </p:spPr>
        <p:txBody>
          <a:bodyPr wrap="square" lIns="0" tIns="0" rIns="0" bIns="0" rtlCol="0" anchor="ctr"/>
          <a:lstStyle/>
          <a:p>
            <a:pPr marL="0" indent="0">
              <a:buNone/>
            </a:pPr>
            <a:r>
              <a:rPr lang="en-US" sz="1150">
                <a:solidFill>
                  <a:srgbClr val="D0D0D0"/>
                </a:solidFill>
                <a:latin typeface="Calibri" pitchFamily="34" charset="0"/>
                <a:ea typeface="Calibri" pitchFamily="34" charset="-122"/>
                <a:cs typeface="Calibri" pitchFamily="34" charset="-120"/>
              </a:rPr>
              <a:t>IMX219-160 camera — wide-angle 8MP lens, 160° field of view</a:t>
            </a:r>
            <a:endParaRPr lang="en-US" sz="1150"/>
          </a:p>
        </p:txBody>
      </p:sp>
      <p:sp>
        <p:nvSpPr>
          <p:cNvPr id="10" name="Shape 7"/>
          <p:cNvSpPr/>
          <p:nvPr/>
        </p:nvSpPr>
        <p:spPr>
          <a:xfrm>
            <a:off x="4572000" y="2505456"/>
            <a:ext cx="4251960" cy="749808"/>
          </a:xfrm>
          <a:prstGeom prst="roundRect">
            <a:avLst>
              <a:gd name="adj" fmla="val 9756"/>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sp>
        <p:nvSpPr>
          <p:cNvPr id="11" name="Text 8"/>
          <p:cNvSpPr/>
          <p:nvPr/>
        </p:nvSpPr>
        <p:spPr>
          <a:xfrm>
            <a:off x="4709160" y="2532888"/>
            <a:ext cx="822960" cy="320040"/>
          </a:xfrm>
          <a:prstGeom prst="rect">
            <a:avLst/>
          </a:prstGeom>
          <a:noFill/>
          <a:ln/>
        </p:spPr>
        <p:txBody>
          <a:bodyPr wrap="square" lIns="0" tIns="0" rIns="0" bIns="0" rtlCol="0" anchor="ctr"/>
          <a:lstStyle/>
          <a:p>
            <a:pPr marL="0" indent="0">
              <a:buNone/>
            </a:pPr>
            <a:r>
              <a:rPr lang="en-US" sz="900" b="1" kern="0" spc="150">
                <a:solidFill>
                  <a:srgbClr val="0A9396"/>
                </a:solidFill>
                <a:latin typeface="Calibri" pitchFamily="34" charset="0"/>
                <a:ea typeface="Calibri" pitchFamily="34" charset="-122"/>
                <a:cs typeface="Calibri" pitchFamily="34" charset="-120"/>
              </a:rPr>
              <a:t>LEGS</a:t>
            </a:r>
            <a:endParaRPr lang="en-US" sz="900"/>
          </a:p>
        </p:txBody>
      </p:sp>
      <p:sp>
        <p:nvSpPr>
          <p:cNvPr id="12" name="Text 9"/>
          <p:cNvSpPr/>
          <p:nvPr/>
        </p:nvSpPr>
        <p:spPr>
          <a:xfrm>
            <a:off x="4709160" y="2834640"/>
            <a:ext cx="3977640" cy="365760"/>
          </a:xfrm>
          <a:prstGeom prst="rect">
            <a:avLst/>
          </a:prstGeom>
          <a:noFill/>
          <a:ln/>
        </p:spPr>
        <p:txBody>
          <a:bodyPr wrap="square" lIns="0" tIns="0" rIns="0" bIns="0" rtlCol="0" anchor="ctr"/>
          <a:lstStyle/>
          <a:p>
            <a:pPr marL="0" indent="0">
              <a:buNone/>
            </a:pPr>
            <a:r>
              <a:rPr lang="en-US" sz="1150">
                <a:solidFill>
                  <a:srgbClr val="D0D0D0"/>
                </a:solidFill>
                <a:latin typeface="Calibri" pitchFamily="34" charset="0"/>
                <a:ea typeface="Calibri" pitchFamily="34" charset="-122"/>
                <a:cs typeface="Calibri" pitchFamily="34" charset="-120"/>
              </a:rPr>
              <a:t>Dual tank-track motors — go anywhere, even on rough surfaces</a:t>
            </a:r>
            <a:endParaRPr lang="en-US" sz="1150"/>
          </a:p>
        </p:txBody>
      </p:sp>
      <p:sp>
        <p:nvSpPr>
          <p:cNvPr id="13" name="Shape 10"/>
          <p:cNvSpPr/>
          <p:nvPr/>
        </p:nvSpPr>
        <p:spPr>
          <a:xfrm>
            <a:off x="4572000" y="3346704"/>
            <a:ext cx="4251960" cy="749808"/>
          </a:xfrm>
          <a:prstGeom prst="roundRect">
            <a:avLst>
              <a:gd name="adj" fmla="val 9756"/>
            </a:avLst>
          </a:prstGeom>
          <a:solidFill>
            <a:srgbClr val="1A2744"/>
          </a:solidFill>
          <a:ln w="12700">
            <a:solidFill>
              <a:srgbClr val="0A9396"/>
            </a:solidFill>
            <a:prstDash val="solid"/>
          </a:ln>
          <a:effectLst>
            <a:outerShdw blurRad="101600" dist="38100" dir="2700000" algn="bl" rotWithShape="0">
              <a:srgbClr val="000000">
                <a:alpha val="18000"/>
              </a:srgbClr>
            </a:outerShdw>
          </a:effectLst>
        </p:spPr>
      </p:sp>
      <p:sp>
        <p:nvSpPr>
          <p:cNvPr id="14" name="Text 11"/>
          <p:cNvSpPr/>
          <p:nvPr/>
        </p:nvSpPr>
        <p:spPr>
          <a:xfrm>
            <a:off x="4709160" y="3374136"/>
            <a:ext cx="822960" cy="320040"/>
          </a:xfrm>
          <a:prstGeom prst="rect">
            <a:avLst/>
          </a:prstGeom>
          <a:noFill/>
          <a:ln/>
        </p:spPr>
        <p:txBody>
          <a:bodyPr wrap="square" lIns="0" tIns="0" rIns="0" bIns="0" rtlCol="0" anchor="ctr"/>
          <a:lstStyle/>
          <a:p>
            <a:pPr marL="0" indent="0">
              <a:buNone/>
            </a:pPr>
            <a:r>
              <a:rPr lang="en-US" sz="900" b="1" kern="0" spc="150">
                <a:solidFill>
                  <a:srgbClr val="0A9396"/>
                </a:solidFill>
                <a:latin typeface="Calibri" pitchFamily="34" charset="0"/>
                <a:ea typeface="Calibri" pitchFamily="34" charset="-122"/>
                <a:cs typeface="Calibri" pitchFamily="34" charset="-120"/>
              </a:rPr>
              <a:t>ARM</a:t>
            </a:r>
            <a:endParaRPr lang="en-US" sz="900"/>
          </a:p>
        </p:txBody>
      </p:sp>
      <p:sp>
        <p:nvSpPr>
          <p:cNvPr id="15" name="Text 12"/>
          <p:cNvSpPr/>
          <p:nvPr/>
        </p:nvSpPr>
        <p:spPr>
          <a:xfrm>
            <a:off x="4709160" y="3675888"/>
            <a:ext cx="3977640" cy="365760"/>
          </a:xfrm>
          <a:prstGeom prst="rect">
            <a:avLst/>
          </a:prstGeom>
          <a:noFill/>
          <a:ln/>
        </p:spPr>
        <p:txBody>
          <a:bodyPr wrap="square" lIns="0" tIns="0" rIns="0" bIns="0" rtlCol="0" anchor="ctr"/>
          <a:lstStyle/>
          <a:p>
            <a:pPr marL="0" indent="0">
              <a:buNone/>
            </a:pPr>
            <a:r>
              <a:rPr lang="en-US" sz="1150">
                <a:solidFill>
                  <a:srgbClr val="D0D0D0"/>
                </a:solidFill>
                <a:latin typeface="Calibri" pitchFamily="34" charset="0"/>
                <a:ea typeface="Calibri" pitchFamily="34" charset="-122"/>
                <a:cs typeface="Calibri" pitchFamily="34" charset="-120"/>
              </a:rPr>
              <a:t>5 servo robotic arm — can grab, tilt &amp; pan the camera</a:t>
            </a:r>
            <a:endParaRPr lang="en-US" sz="1150"/>
          </a:p>
        </p:txBody>
      </p:sp>
      <p:sp>
        <p:nvSpPr>
          <p:cNvPr id="16" name="Shape 13"/>
          <p:cNvSpPr/>
          <p:nvPr/>
        </p:nvSpPr>
        <p:spPr>
          <a:xfrm>
            <a:off x="4572000" y="4187952"/>
            <a:ext cx="4251960" cy="749808"/>
          </a:xfrm>
          <a:prstGeom prst="roundRect">
            <a:avLst>
              <a:gd name="adj" fmla="val 9756"/>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sp>
        <p:nvSpPr>
          <p:cNvPr id="17" name="Text 14"/>
          <p:cNvSpPr/>
          <p:nvPr/>
        </p:nvSpPr>
        <p:spPr>
          <a:xfrm>
            <a:off x="4709160" y="4215384"/>
            <a:ext cx="822960" cy="320040"/>
          </a:xfrm>
          <a:prstGeom prst="rect">
            <a:avLst/>
          </a:prstGeom>
          <a:noFill/>
          <a:ln/>
        </p:spPr>
        <p:txBody>
          <a:bodyPr wrap="square" lIns="0" tIns="0" rIns="0" bIns="0" rtlCol="0" anchor="ctr"/>
          <a:lstStyle/>
          <a:p>
            <a:pPr marL="0" indent="0">
              <a:buNone/>
            </a:pPr>
            <a:r>
              <a:rPr lang="en-US" sz="900" b="1" kern="0" spc="150">
                <a:solidFill>
                  <a:srgbClr val="0A9396"/>
                </a:solidFill>
                <a:latin typeface="Calibri" pitchFamily="34" charset="0"/>
                <a:ea typeface="Calibri" pitchFamily="34" charset="-122"/>
                <a:cs typeface="Calibri" pitchFamily="34" charset="-120"/>
              </a:rPr>
              <a:t>DISPLAY</a:t>
            </a:r>
            <a:endParaRPr lang="en-US" sz="900"/>
          </a:p>
        </p:txBody>
      </p:sp>
      <p:sp>
        <p:nvSpPr>
          <p:cNvPr id="18" name="Text 15"/>
          <p:cNvSpPr/>
          <p:nvPr/>
        </p:nvSpPr>
        <p:spPr>
          <a:xfrm>
            <a:off x="4709160" y="4517136"/>
            <a:ext cx="3977640" cy="365760"/>
          </a:xfrm>
          <a:prstGeom prst="rect">
            <a:avLst/>
          </a:prstGeom>
          <a:noFill/>
          <a:ln/>
        </p:spPr>
        <p:txBody>
          <a:bodyPr wrap="square" lIns="0" tIns="0" rIns="0" bIns="0" rtlCol="0" anchor="ctr"/>
          <a:lstStyle/>
          <a:p>
            <a:pPr marL="0" indent="0">
              <a:buNone/>
            </a:pPr>
            <a:r>
              <a:rPr lang="en-US" sz="1150">
                <a:solidFill>
                  <a:srgbClr val="D0D0D0"/>
                </a:solidFill>
                <a:latin typeface="Calibri" pitchFamily="34" charset="0"/>
                <a:ea typeface="Calibri" pitchFamily="34" charset="-122"/>
                <a:cs typeface="Calibri" pitchFamily="34" charset="-120"/>
              </a:rPr>
              <a:t>Tiny OLED screen — shows live WiFi, CPU &amp; system status</a:t>
            </a:r>
            <a:endParaRPr lang="en-US" sz="1150"/>
          </a:p>
        </p:txBody>
      </p:sp>
      <p:pic>
        <p:nvPicPr>
          <p:cNvPr id="19" name="Picture 18" descr="A black machine with a camera and a track&#10;&#10;AI-generated content may be incorrect.">
            <a:extLst>
              <a:ext uri="{FF2B5EF4-FFF2-40B4-BE49-F238E27FC236}">
                <a16:creationId xmlns:a16="http://schemas.microsoft.com/office/drawing/2014/main" id="{9FE089C0-D569-A478-38F1-D738E6EB0D58}"/>
              </a:ext>
            </a:extLst>
          </p:cNvPr>
          <p:cNvPicPr>
            <a:picLocks noChangeAspect="1"/>
          </p:cNvPicPr>
          <p:nvPr/>
        </p:nvPicPr>
        <p:blipFill>
          <a:blip r:embed="rId3"/>
          <a:srcRect l="16687" t="391" r="-685" b="-589"/>
          <a:stretch>
            <a:fillRect/>
          </a:stretch>
        </p:blipFill>
        <p:spPr>
          <a:xfrm>
            <a:off x="48987" y="1604317"/>
            <a:ext cx="4471315" cy="24607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200" b="1">
                <a:solidFill>
                  <a:srgbClr val="0D1B2A"/>
                </a:solidFill>
                <a:latin typeface="Cambria" pitchFamily="34" charset="0"/>
                <a:ea typeface="Cambria" pitchFamily="34" charset="-122"/>
                <a:cs typeface="Cambria" pitchFamily="34" charset="-120"/>
              </a:rPr>
              <a:t>The Plan — Three Levels of Difficulty</a:t>
            </a:r>
            <a:endParaRPr lang="en-US" sz="3200"/>
          </a:p>
        </p:txBody>
      </p:sp>
      <p:sp>
        <p:nvSpPr>
          <p:cNvPr id="3" name="Shape 1"/>
          <p:cNvSpPr/>
          <p:nvPr/>
        </p:nvSpPr>
        <p:spPr>
          <a:xfrm>
            <a:off x="274320" y="868680"/>
            <a:ext cx="2697480" cy="4023360"/>
          </a:xfrm>
          <a:prstGeom prst="roundRect">
            <a:avLst>
              <a:gd name="adj" fmla="val 5085"/>
            </a:avLst>
          </a:prstGeom>
          <a:solidFill>
            <a:srgbClr val="40916C"/>
          </a:solidFill>
          <a:ln w="12700">
            <a:solidFill>
              <a:srgbClr val="40916C"/>
            </a:solidFill>
            <a:prstDash val="solid"/>
          </a:ln>
          <a:effectLst>
            <a:outerShdw blurRad="101600" dist="38100" dir="2700000" algn="bl" rotWithShape="0">
              <a:srgbClr val="000000">
                <a:alpha val="18000"/>
              </a:srgbClr>
            </a:outerShdw>
          </a:effectLst>
        </p:spPr>
      </p:sp>
      <p:sp>
        <p:nvSpPr>
          <p:cNvPr id="4" name="Text 2"/>
          <p:cNvSpPr/>
          <p:nvPr/>
        </p:nvSpPr>
        <p:spPr>
          <a:xfrm>
            <a:off x="411480" y="960120"/>
            <a:ext cx="2423160" cy="502920"/>
          </a:xfrm>
          <a:prstGeom prst="rect">
            <a:avLst/>
          </a:prstGeom>
          <a:noFill/>
          <a:ln/>
        </p:spPr>
        <p:txBody>
          <a:bodyPr wrap="square" lIns="0" tIns="0" rIns="0" bIns="0" rtlCol="0" anchor="ctr"/>
          <a:lstStyle/>
          <a:p>
            <a:pPr marL="0" indent="0" algn="ctr">
              <a:buNone/>
            </a:pPr>
            <a:r>
              <a:rPr lang="en-US" sz="2600" b="1">
                <a:solidFill>
                  <a:srgbClr val="FFFFFF"/>
                </a:solidFill>
                <a:latin typeface="Cambria" pitchFamily="34" charset="0"/>
                <a:ea typeface="Cambria" pitchFamily="34" charset="-122"/>
                <a:cs typeface="Cambria" pitchFamily="34" charset="-120"/>
              </a:rPr>
              <a:t>Task C</a:t>
            </a:r>
            <a:endParaRPr lang="en-US" sz="2600"/>
          </a:p>
        </p:txBody>
      </p:sp>
      <p:sp>
        <p:nvSpPr>
          <p:cNvPr id="5" name="Shape 3"/>
          <p:cNvSpPr/>
          <p:nvPr/>
        </p:nvSpPr>
        <p:spPr>
          <a:xfrm>
            <a:off x="777240" y="1463040"/>
            <a:ext cx="1691640" cy="292608"/>
          </a:xfrm>
          <a:prstGeom prst="roundRect">
            <a:avLst>
              <a:gd name="adj" fmla="val 31250"/>
            </a:avLst>
          </a:prstGeom>
          <a:solidFill>
            <a:srgbClr val="FFFFFF">
              <a:alpha val="25000"/>
            </a:srgbClr>
          </a:solidFill>
          <a:ln w="12700">
            <a:solidFill>
              <a:srgbClr val="FFFFFF"/>
            </a:solidFill>
            <a:prstDash val="solid"/>
          </a:ln>
        </p:spPr>
      </p:sp>
      <p:sp>
        <p:nvSpPr>
          <p:cNvPr id="6" name="Text 4"/>
          <p:cNvSpPr/>
          <p:nvPr/>
        </p:nvSpPr>
        <p:spPr>
          <a:xfrm>
            <a:off x="777240" y="1490472"/>
            <a:ext cx="1691640" cy="237744"/>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Foundation</a:t>
            </a:r>
            <a:endParaRPr lang="en-US" sz="1100"/>
          </a:p>
        </p:txBody>
      </p:sp>
      <p:sp>
        <p:nvSpPr>
          <p:cNvPr id="7" name="Text 5"/>
          <p:cNvSpPr/>
          <p:nvPr/>
        </p:nvSpPr>
        <p:spPr>
          <a:xfrm>
            <a:off x="411480" y="1874520"/>
            <a:ext cx="2423160" cy="1920240"/>
          </a:xfrm>
          <a:prstGeom prst="rect">
            <a:avLst/>
          </a:prstGeom>
          <a:noFill/>
          <a:ln/>
        </p:spPr>
        <p:txBody>
          <a:bodyPr wrap="square" lIns="0" tIns="0" rIns="0" bIns="0" rtlCol="0" anchor="t"/>
          <a:lstStyle/>
          <a:p>
            <a:pPr marL="0" indent="0">
              <a:buNone/>
            </a:pPr>
            <a:r>
              <a:rPr lang="en-US" sz="1200">
                <a:solidFill>
                  <a:srgbClr val="E0F0EF"/>
                </a:solidFill>
                <a:latin typeface="Calibri" pitchFamily="34" charset="0"/>
                <a:ea typeface="Calibri" pitchFamily="34" charset="-122"/>
                <a:cs typeface="Calibri" pitchFamily="34" charset="-120"/>
              </a:rPr>
              <a:t>Build and configure the hardware: assemble the robot, install the OS, connect all sensors &amp; motors, and verify everything turns on and works together.</a:t>
            </a:r>
            <a:endParaRPr lang="en-US" sz="1200"/>
          </a:p>
        </p:txBody>
      </p:sp>
      <p:sp>
        <p:nvSpPr>
          <p:cNvPr id="8" name="Text 6"/>
          <p:cNvSpPr/>
          <p:nvPr/>
        </p:nvSpPr>
        <p:spPr>
          <a:xfrm>
            <a:off x="365760" y="3794760"/>
            <a:ext cx="2514600" cy="5029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 Completed (with many obstacles!)</a:t>
            </a:r>
            <a:endParaRPr lang="en-US" sz="1100"/>
          </a:p>
        </p:txBody>
      </p:sp>
      <p:sp>
        <p:nvSpPr>
          <p:cNvPr id="9" name="Shape 7"/>
          <p:cNvSpPr/>
          <p:nvPr/>
        </p:nvSpPr>
        <p:spPr>
          <a:xfrm>
            <a:off x="3154680" y="868680"/>
            <a:ext cx="2697480" cy="4023360"/>
          </a:xfrm>
          <a:prstGeom prst="roundRect">
            <a:avLst>
              <a:gd name="adj" fmla="val 5085"/>
            </a:avLst>
          </a:prstGeom>
          <a:solidFill>
            <a:srgbClr val="005F73"/>
          </a:solidFill>
          <a:ln w="12700">
            <a:solidFill>
              <a:srgbClr val="005F73"/>
            </a:solidFill>
            <a:prstDash val="solid"/>
          </a:ln>
          <a:effectLst>
            <a:outerShdw blurRad="101600" dist="38100" dir="2700000" algn="bl" rotWithShape="0">
              <a:srgbClr val="000000">
                <a:alpha val="18000"/>
              </a:srgbClr>
            </a:outerShdw>
          </a:effectLst>
        </p:spPr>
      </p:sp>
      <p:sp>
        <p:nvSpPr>
          <p:cNvPr id="10" name="Text 8"/>
          <p:cNvSpPr/>
          <p:nvPr/>
        </p:nvSpPr>
        <p:spPr>
          <a:xfrm>
            <a:off x="3291840" y="960120"/>
            <a:ext cx="2423160" cy="502920"/>
          </a:xfrm>
          <a:prstGeom prst="rect">
            <a:avLst/>
          </a:prstGeom>
          <a:noFill/>
          <a:ln/>
        </p:spPr>
        <p:txBody>
          <a:bodyPr wrap="square" lIns="0" tIns="0" rIns="0" bIns="0" rtlCol="0" anchor="ctr"/>
          <a:lstStyle/>
          <a:p>
            <a:pPr marL="0" indent="0" algn="ctr">
              <a:buNone/>
            </a:pPr>
            <a:r>
              <a:rPr lang="en-US" sz="2600" b="1">
                <a:solidFill>
                  <a:srgbClr val="FFFFFF"/>
                </a:solidFill>
                <a:latin typeface="Cambria" pitchFamily="34" charset="0"/>
                <a:ea typeface="Cambria" pitchFamily="34" charset="-122"/>
                <a:cs typeface="Cambria" pitchFamily="34" charset="-120"/>
              </a:rPr>
              <a:t>Task B</a:t>
            </a:r>
            <a:endParaRPr lang="en-US" sz="2600"/>
          </a:p>
        </p:txBody>
      </p:sp>
      <p:sp>
        <p:nvSpPr>
          <p:cNvPr id="11" name="Shape 9"/>
          <p:cNvSpPr/>
          <p:nvPr/>
        </p:nvSpPr>
        <p:spPr>
          <a:xfrm>
            <a:off x="3657600" y="1463040"/>
            <a:ext cx="1691640" cy="292608"/>
          </a:xfrm>
          <a:prstGeom prst="roundRect">
            <a:avLst>
              <a:gd name="adj" fmla="val 31250"/>
            </a:avLst>
          </a:prstGeom>
          <a:solidFill>
            <a:srgbClr val="FFFFFF">
              <a:alpha val="25000"/>
            </a:srgbClr>
          </a:solidFill>
          <a:ln w="12700">
            <a:solidFill>
              <a:srgbClr val="FFFFFF"/>
            </a:solidFill>
            <a:prstDash val="solid"/>
          </a:ln>
        </p:spPr>
      </p:sp>
      <p:sp>
        <p:nvSpPr>
          <p:cNvPr id="12" name="Text 10"/>
          <p:cNvSpPr/>
          <p:nvPr/>
        </p:nvSpPr>
        <p:spPr>
          <a:xfrm>
            <a:off x="3657600" y="1490472"/>
            <a:ext cx="1691640" cy="237744"/>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Perception</a:t>
            </a:r>
            <a:endParaRPr lang="en-US" sz="1100"/>
          </a:p>
        </p:txBody>
      </p:sp>
      <p:sp>
        <p:nvSpPr>
          <p:cNvPr id="13" name="Text 11"/>
          <p:cNvSpPr/>
          <p:nvPr/>
        </p:nvSpPr>
        <p:spPr>
          <a:xfrm>
            <a:off x="3291840" y="1874520"/>
            <a:ext cx="2423160" cy="1920240"/>
          </a:xfrm>
          <a:prstGeom prst="rect">
            <a:avLst/>
          </a:prstGeom>
          <a:noFill/>
          <a:ln/>
        </p:spPr>
        <p:txBody>
          <a:bodyPr wrap="square" lIns="0" tIns="0" rIns="0" bIns="0" rtlCol="0" anchor="t"/>
          <a:lstStyle/>
          <a:p>
            <a:pPr marL="0" indent="0">
              <a:buNone/>
            </a:pPr>
            <a:r>
              <a:rPr lang="en-US" sz="1200">
                <a:solidFill>
                  <a:srgbClr val="E0F0EF"/>
                </a:solidFill>
                <a:latin typeface="Calibri" pitchFamily="34" charset="0"/>
                <a:ea typeface="Calibri" pitchFamily="34" charset="-122"/>
                <a:cs typeface="Calibri" pitchFamily="34" charset="-120"/>
              </a:rPr>
              <a:t>Give the robot eyes and understanding: merge live camera data, lane detection lines, and YOLO object recognition into one real-time picture of the world.</a:t>
            </a:r>
            <a:endParaRPr lang="en-US" sz="1200"/>
          </a:p>
        </p:txBody>
      </p:sp>
      <p:sp>
        <p:nvSpPr>
          <p:cNvPr id="14" name="Text 12"/>
          <p:cNvSpPr/>
          <p:nvPr/>
        </p:nvSpPr>
        <p:spPr>
          <a:xfrm>
            <a:off x="3246120" y="3794760"/>
            <a:ext cx="2514600" cy="502920"/>
          </a:xfrm>
          <a:prstGeom prst="rect">
            <a:avLst/>
          </a:prstGeom>
          <a:noFill/>
          <a:ln/>
        </p:spPr>
        <p:txBody>
          <a:bodyPr wrap="square" lIns="0" tIns="0" rIns="0" bIns="0" rtlCol="0" anchor="ctr"/>
          <a:lstStyle/>
          <a:p>
            <a:pPr algn="ctr"/>
            <a:r>
              <a:rPr lang="en-US" sz="1100" b="1">
                <a:solidFill>
                  <a:srgbClr val="FFFFFF"/>
                </a:solidFill>
                <a:latin typeface="Calibri"/>
                <a:ea typeface="Calibri"/>
                <a:cs typeface="Calibri"/>
              </a:rPr>
              <a:t>⚠️ Partially started/completed — blocked by hardware</a:t>
            </a:r>
            <a:endParaRPr lang="en-US" sz="1100">
              <a:latin typeface="Calibri"/>
              <a:ea typeface="Calibri"/>
              <a:cs typeface="Calibri"/>
            </a:endParaRPr>
          </a:p>
        </p:txBody>
      </p:sp>
      <p:sp>
        <p:nvSpPr>
          <p:cNvPr id="15" name="Shape 13"/>
          <p:cNvSpPr/>
          <p:nvPr/>
        </p:nvSpPr>
        <p:spPr>
          <a:xfrm>
            <a:off x="6035040" y="868680"/>
            <a:ext cx="2697480" cy="4023360"/>
          </a:xfrm>
          <a:prstGeom prst="roundRect">
            <a:avLst>
              <a:gd name="adj" fmla="val 5085"/>
            </a:avLst>
          </a:prstGeom>
          <a:solidFill>
            <a:srgbClr val="0D1B2A"/>
          </a:solidFill>
          <a:ln w="12700">
            <a:solidFill>
              <a:srgbClr val="0D1B2A"/>
            </a:solidFill>
            <a:prstDash val="solid"/>
          </a:ln>
          <a:effectLst>
            <a:outerShdw blurRad="101600" dist="38100" dir="2700000" algn="bl" rotWithShape="0">
              <a:srgbClr val="000000">
                <a:alpha val="18000"/>
              </a:srgbClr>
            </a:outerShdw>
          </a:effectLst>
        </p:spPr>
      </p:sp>
      <p:sp>
        <p:nvSpPr>
          <p:cNvPr id="16" name="Text 14"/>
          <p:cNvSpPr/>
          <p:nvPr/>
        </p:nvSpPr>
        <p:spPr>
          <a:xfrm>
            <a:off x="6172200" y="960120"/>
            <a:ext cx="2423160" cy="502920"/>
          </a:xfrm>
          <a:prstGeom prst="rect">
            <a:avLst/>
          </a:prstGeom>
          <a:noFill/>
          <a:ln/>
        </p:spPr>
        <p:txBody>
          <a:bodyPr wrap="square" lIns="0" tIns="0" rIns="0" bIns="0" rtlCol="0" anchor="ctr"/>
          <a:lstStyle/>
          <a:p>
            <a:pPr marL="0" indent="0" algn="ctr">
              <a:buNone/>
            </a:pPr>
            <a:r>
              <a:rPr lang="en-US" sz="2600" b="1">
                <a:solidFill>
                  <a:srgbClr val="FFFFFF"/>
                </a:solidFill>
                <a:latin typeface="Cambria" pitchFamily="34" charset="0"/>
                <a:ea typeface="Cambria" pitchFamily="34" charset="-122"/>
                <a:cs typeface="Cambria" pitchFamily="34" charset="-120"/>
              </a:rPr>
              <a:t>Task A</a:t>
            </a:r>
            <a:endParaRPr lang="en-US" sz="2600"/>
          </a:p>
        </p:txBody>
      </p:sp>
      <p:sp>
        <p:nvSpPr>
          <p:cNvPr id="17" name="Shape 15"/>
          <p:cNvSpPr/>
          <p:nvPr/>
        </p:nvSpPr>
        <p:spPr>
          <a:xfrm>
            <a:off x="6537960" y="1463040"/>
            <a:ext cx="1691640" cy="292608"/>
          </a:xfrm>
          <a:prstGeom prst="roundRect">
            <a:avLst>
              <a:gd name="adj" fmla="val 31250"/>
            </a:avLst>
          </a:prstGeom>
          <a:solidFill>
            <a:srgbClr val="FFFFFF">
              <a:alpha val="25000"/>
            </a:srgbClr>
          </a:solidFill>
          <a:ln w="12700">
            <a:solidFill>
              <a:srgbClr val="FFFFFF"/>
            </a:solidFill>
            <a:prstDash val="solid"/>
          </a:ln>
        </p:spPr>
      </p:sp>
      <p:sp>
        <p:nvSpPr>
          <p:cNvPr id="18" name="Text 16"/>
          <p:cNvSpPr/>
          <p:nvPr/>
        </p:nvSpPr>
        <p:spPr>
          <a:xfrm>
            <a:off x="6537960" y="1490472"/>
            <a:ext cx="1691640" cy="237744"/>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Autonomy</a:t>
            </a:r>
            <a:endParaRPr lang="en-US" sz="1100"/>
          </a:p>
        </p:txBody>
      </p:sp>
      <p:sp>
        <p:nvSpPr>
          <p:cNvPr id="19" name="Text 17"/>
          <p:cNvSpPr/>
          <p:nvPr/>
        </p:nvSpPr>
        <p:spPr>
          <a:xfrm>
            <a:off x="6172200" y="1874520"/>
            <a:ext cx="2423160" cy="1920240"/>
          </a:xfrm>
          <a:prstGeom prst="rect">
            <a:avLst/>
          </a:prstGeom>
          <a:noFill/>
          <a:ln/>
        </p:spPr>
        <p:txBody>
          <a:bodyPr wrap="square" lIns="0" tIns="0" rIns="0" bIns="0" rtlCol="0" anchor="t"/>
          <a:lstStyle/>
          <a:p>
            <a:pPr marL="0" indent="0">
              <a:buNone/>
            </a:pPr>
            <a:r>
              <a:rPr lang="en-US" sz="1200">
                <a:solidFill>
                  <a:srgbClr val="E0F0EF"/>
                </a:solidFill>
                <a:latin typeface="Calibri" pitchFamily="34" charset="0"/>
                <a:ea typeface="Calibri" pitchFamily="34" charset="-122"/>
                <a:cs typeface="Calibri" pitchFamily="34" charset="-120"/>
              </a:rPr>
              <a:t>Make the robot drive itself: use the fused perception data to automatically steer, speed up or slow down, and stop safely when something is in the way.</a:t>
            </a:r>
            <a:endParaRPr lang="en-US" sz="1200"/>
          </a:p>
        </p:txBody>
      </p:sp>
      <p:sp>
        <p:nvSpPr>
          <p:cNvPr id="20" name="Text 18"/>
          <p:cNvSpPr/>
          <p:nvPr/>
        </p:nvSpPr>
        <p:spPr>
          <a:xfrm>
            <a:off x="6126480" y="3794760"/>
            <a:ext cx="2514600" cy="5029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 Not yet started — requires Task B first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200" b="1">
                <a:solidFill>
                  <a:srgbClr val="0D1B2A"/>
                </a:solidFill>
                <a:latin typeface="Cambria" pitchFamily="34" charset="0"/>
                <a:ea typeface="Cambria" pitchFamily="34" charset="-122"/>
                <a:cs typeface="Cambria" pitchFamily="34" charset="-120"/>
              </a:rPr>
              <a:t>How the AI Was Supposed to Work</a:t>
            </a:r>
            <a:endParaRPr lang="en-US" sz="3200"/>
          </a:p>
        </p:txBody>
      </p:sp>
      <p:sp>
        <p:nvSpPr>
          <p:cNvPr id="3" name="Shape 1"/>
          <p:cNvSpPr/>
          <p:nvPr/>
        </p:nvSpPr>
        <p:spPr>
          <a:xfrm>
            <a:off x="274320" y="914400"/>
            <a:ext cx="1572768" cy="2651760"/>
          </a:xfrm>
          <a:prstGeom prst="roundRect">
            <a:avLst>
              <a:gd name="adj" fmla="val 5814"/>
            </a:avLst>
          </a:prstGeom>
          <a:solidFill>
            <a:srgbClr val="FFFFFF"/>
          </a:solidFill>
          <a:ln w="19050">
            <a:solidFill>
              <a:srgbClr val="0A9396"/>
            </a:solidFill>
            <a:prstDash val="solid"/>
          </a:ln>
          <a:effectLst>
            <a:outerShdw blurRad="101600" dist="38100" dir="2700000" algn="bl" rotWithShape="0">
              <a:srgbClr val="000000">
                <a:alpha val="18000"/>
              </a:srgbClr>
            </a:outerShdw>
          </a:effectLst>
        </p:spPr>
      </p:sp>
      <p:pic>
        <p:nvPicPr>
          <p:cNvPr id="4" name="Image 0" descr="preencoded.png"/>
          <p:cNvPicPr>
            <a:picLocks noChangeAspect="1"/>
          </p:cNvPicPr>
          <p:nvPr/>
        </p:nvPicPr>
        <p:blipFill>
          <a:blip r:embed="rId3"/>
          <a:stretch>
            <a:fillRect/>
          </a:stretch>
        </p:blipFill>
        <p:spPr>
          <a:xfrm>
            <a:off x="740664" y="1051560"/>
            <a:ext cx="640080" cy="640080"/>
          </a:xfrm>
          <a:prstGeom prst="rect">
            <a:avLst/>
          </a:prstGeom>
        </p:spPr>
      </p:pic>
      <p:sp>
        <p:nvSpPr>
          <p:cNvPr id="5" name="Text 2"/>
          <p:cNvSpPr/>
          <p:nvPr/>
        </p:nvSpPr>
        <p:spPr>
          <a:xfrm>
            <a:off x="329184" y="1783080"/>
            <a:ext cx="1463040" cy="502920"/>
          </a:xfrm>
          <a:prstGeom prst="rect">
            <a:avLst/>
          </a:prstGeom>
          <a:noFill/>
          <a:ln/>
        </p:spPr>
        <p:txBody>
          <a:bodyPr wrap="square" lIns="0" tIns="0" rIns="0" bIns="0" rtlCol="0" anchor="ctr"/>
          <a:lstStyle/>
          <a:p>
            <a:pPr marL="0" indent="0" algn="ctr">
              <a:buNone/>
            </a:pPr>
            <a:r>
              <a:rPr lang="en-US" sz="1200" b="1">
                <a:solidFill>
                  <a:srgbClr val="0D1B2A"/>
                </a:solidFill>
                <a:latin typeface="Cambria" pitchFamily="34" charset="0"/>
                <a:ea typeface="Cambria" pitchFamily="34" charset="-122"/>
                <a:cs typeface="Cambria" pitchFamily="34" charset="-120"/>
              </a:rPr>
              <a:t>Camera</a:t>
            </a:r>
            <a:endParaRPr lang="en-US" sz="1200"/>
          </a:p>
        </p:txBody>
      </p:sp>
      <p:sp>
        <p:nvSpPr>
          <p:cNvPr id="6" name="Text 3"/>
          <p:cNvSpPr/>
          <p:nvPr/>
        </p:nvSpPr>
        <p:spPr>
          <a:xfrm>
            <a:off x="329184" y="2331720"/>
            <a:ext cx="1463040" cy="914400"/>
          </a:xfrm>
          <a:prstGeom prst="rect">
            <a:avLst/>
          </a:prstGeom>
          <a:noFill/>
          <a:ln/>
        </p:spPr>
        <p:txBody>
          <a:bodyPr wrap="square" lIns="0" tIns="0" rIns="0" bIns="0" rtlCol="0" anchor="ctr"/>
          <a:lstStyle/>
          <a:p>
            <a:pPr marL="0" indent="0" algn="ctr">
              <a:buNone/>
            </a:pPr>
            <a:r>
              <a:rPr lang="en-US" sz="1050">
                <a:solidFill>
                  <a:srgbClr val="718096"/>
                </a:solidFill>
                <a:latin typeface="Calibri" pitchFamily="34" charset="0"/>
                <a:ea typeface="Calibri" pitchFamily="34" charset="-122"/>
                <a:cs typeface="Calibri" pitchFamily="34" charset="-120"/>
              </a:rPr>
              <a:t>Records live video 30fps</a:t>
            </a:r>
            <a:endParaRPr lang="en-US" sz="1050"/>
          </a:p>
        </p:txBody>
      </p:sp>
      <p:sp>
        <p:nvSpPr>
          <p:cNvPr id="7" name="Shape 4"/>
          <p:cNvSpPr/>
          <p:nvPr/>
        </p:nvSpPr>
        <p:spPr>
          <a:xfrm>
            <a:off x="1847088" y="2148840"/>
            <a:ext cx="128016" cy="164592"/>
          </a:xfrm>
          <a:prstGeom prst="rect">
            <a:avLst/>
          </a:prstGeom>
          <a:solidFill>
            <a:srgbClr val="0A9396"/>
          </a:solidFill>
          <a:ln w="12700">
            <a:solidFill>
              <a:srgbClr val="0A9396"/>
            </a:solidFill>
            <a:prstDash val="solid"/>
          </a:ln>
        </p:spPr>
      </p:sp>
      <p:sp>
        <p:nvSpPr>
          <p:cNvPr id="8" name="Text 5"/>
          <p:cNvSpPr/>
          <p:nvPr/>
        </p:nvSpPr>
        <p:spPr>
          <a:xfrm>
            <a:off x="1856232" y="2084832"/>
            <a:ext cx="128016" cy="256032"/>
          </a:xfrm>
          <a:prstGeom prst="rect">
            <a:avLst/>
          </a:prstGeom>
          <a:noFill/>
          <a:ln/>
        </p:spPr>
        <p:txBody>
          <a:bodyPr wrap="square" lIns="0" tIns="0" rIns="0" bIns="0" rtlCol="0" anchor="ctr"/>
          <a:lstStyle/>
          <a:p>
            <a:pPr marL="0" indent="0" algn="ctr">
              <a:buNone/>
            </a:pPr>
            <a:r>
              <a:rPr lang="en-US" sz="1600">
                <a:solidFill>
                  <a:srgbClr val="0A9396"/>
                </a:solidFill>
                <a:latin typeface="Calibri" pitchFamily="34" charset="0"/>
                <a:ea typeface="Calibri" pitchFamily="34" charset="-122"/>
                <a:cs typeface="Calibri" pitchFamily="34" charset="-120"/>
              </a:rPr>
              <a:t>→</a:t>
            </a:r>
            <a:endParaRPr lang="en-US" sz="1600"/>
          </a:p>
        </p:txBody>
      </p:sp>
      <p:sp>
        <p:nvSpPr>
          <p:cNvPr id="9" name="Shape 6"/>
          <p:cNvSpPr/>
          <p:nvPr/>
        </p:nvSpPr>
        <p:spPr>
          <a:xfrm>
            <a:off x="1993392" y="914400"/>
            <a:ext cx="1572768" cy="2651760"/>
          </a:xfrm>
          <a:prstGeom prst="roundRect">
            <a:avLst>
              <a:gd name="adj" fmla="val 5814"/>
            </a:avLst>
          </a:prstGeom>
          <a:solidFill>
            <a:srgbClr val="FFFFFF"/>
          </a:solidFill>
          <a:ln w="19050">
            <a:solidFill>
              <a:srgbClr val="0A9396"/>
            </a:solidFill>
            <a:prstDash val="solid"/>
          </a:ln>
          <a:effectLst>
            <a:outerShdw blurRad="101600" dist="38100" dir="2700000" algn="bl" rotWithShape="0">
              <a:srgbClr val="000000">
                <a:alpha val="18000"/>
              </a:srgbClr>
            </a:outerShdw>
          </a:effectLst>
        </p:spPr>
      </p:sp>
      <p:pic>
        <p:nvPicPr>
          <p:cNvPr id="10" name="Image 1" descr="preencoded.png"/>
          <p:cNvPicPr>
            <a:picLocks noChangeAspect="1"/>
          </p:cNvPicPr>
          <p:nvPr/>
        </p:nvPicPr>
        <p:blipFill>
          <a:blip r:embed="rId4"/>
          <a:stretch>
            <a:fillRect/>
          </a:stretch>
        </p:blipFill>
        <p:spPr>
          <a:xfrm>
            <a:off x="2459736" y="1051560"/>
            <a:ext cx="640080" cy="640080"/>
          </a:xfrm>
          <a:prstGeom prst="rect">
            <a:avLst/>
          </a:prstGeom>
        </p:spPr>
      </p:pic>
      <p:sp>
        <p:nvSpPr>
          <p:cNvPr id="11" name="Text 7"/>
          <p:cNvSpPr/>
          <p:nvPr/>
        </p:nvSpPr>
        <p:spPr>
          <a:xfrm>
            <a:off x="2048256" y="1783080"/>
            <a:ext cx="1463040" cy="502920"/>
          </a:xfrm>
          <a:prstGeom prst="rect">
            <a:avLst/>
          </a:prstGeom>
          <a:noFill/>
          <a:ln/>
        </p:spPr>
        <p:txBody>
          <a:bodyPr wrap="square" lIns="0" tIns="0" rIns="0" bIns="0" rtlCol="0" anchor="ctr"/>
          <a:lstStyle/>
          <a:p>
            <a:pPr marL="0" indent="0" algn="ctr">
              <a:buNone/>
            </a:pPr>
            <a:r>
              <a:rPr lang="en-US" sz="1200" b="1">
                <a:solidFill>
                  <a:srgbClr val="0D1B2A"/>
                </a:solidFill>
                <a:latin typeface="Cambria" pitchFamily="34" charset="0"/>
                <a:ea typeface="Cambria" pitchFamily="34" charset="-122"/>
                <a:cs typeface="Cambria" pitchFamily="34" charset="-120"/>
              </a:rPr>
              <a:t>Lane Detection</a:t>
            </a:r>
            <a:endParaRPr lang="en-US" sz="1200"/>
          </a:p>
        </p:txBody>
      </p:sp>
      <p:sp>
        <p:nvSpPr>
          <p:cNvPr id="12" name="Text 8"/>
          <p:cNvSpPr/>
          <p:nvPr/>
        </p:nvSpPr>
        <p:spPr>
          <a:xfrm>
            <a:off x="2048256" y="2331720"/>
            <a:ext cx="1463040" cy="914400"/>
          </a:xfrm>
          <a:prstGeom prst="rect">
            <a:avLst/>
          </a:prstGeom>
          <a:noFill/>
          <a:ln/>
        </p:spPr>
        <p:txBody>
          <a:bodyPr wrap="square" lIns="0" tIns="0" rIns="0" bIns="0" rtlCol="0" anchor="ctr"/>
          <a:lstStyle/>
          <a:p>
            <a:pPr marL="0" indent="0" algn="ctr">
              <a:buNone/>
            </a:pPr>
            <a:r>
              <a:rPr lang="en-US" sz="1050">
                <a:solidFill>
                  <a:srgbClr val="718096"/>
                </a:solidFill>
                <a:latin typeface="Calibri" pitchFamily="34" charset="0"/>
                <a:ea typeface="Calibri" pitchFamily="34" charset="-122"/>
                <a:cs typeface="Calibri" pitchFamily="34" charset="-120"/>
              </a:rPr>
              <a:t>Finds road edges using computer vision</a:t>
            </a:r>
            <a:endParaRPr lang="en-US" sz="1050"/>
          </a:p>
        </p:txBody>
      </p:sp>
      <p:sp>
        <p:nvSpPr>
          <p:cNvPr id="13" name="Shape 9"/>
          <p:cNvSpPr/>
          <p:nvPr/>
        </p:nvSpPr>
        <p:spPr>
          <a:xfrm>
            <a:off x="3566160" y="2148840"/>
            <a:ext cx="128016" cy="164592"/>
          </a:xfrm>
          <a:prstGeom prst="rect">
            <a:avLst/>
          </a:prstGeom>
          <a:solidFill>
            <a:srgbClr val="0A9396"/>
          </a:solidFill>
          <a:ln w="12700">
            <a:solidFill>
              <a:srgbClr val="0A9396"/>
            </a:solidFill>
            <a:prstDash val="solid"/>
          </a:ln>
        </p:spPr>
      </p:sp>
      <p:sp>
        <p:nvSpPr>
          <p:cNvPr id="14" name="Text 10"/>
          <p:cNvSpPr/>
          <p:nvPr/>
        </p:nvSpPr>
        <p:spPr>
          <a:xfrm>
            <a:off x="3575304" y="2084832"/>
            <a:ext cx="128016" cy="256032"/>
          </a:xfrm>
          <a:prstGeom prst="rect">
            <a:avLst/>
          </a:prstGeom>
          <a:noFill/>
          <a:ln/>
        </p:spPr>
        <p:txBody>
          <a:bodyPr wrap="square" lIns="0" tIns="0" rIns="0" bIns="0" rtlCol="0" anchor="ctr"/>
          <a:lstStyle/>
          <a:p>
            <a:pPr marL="0" indent="0" algn="ctr">
              <a:buNone/>
            </a:pPr>
            <a:r>
              <a:rPr lang="en-US" sz="1600">
                <a:solidFill>
                  <a:srgbClr val="0A9396"/>
                </a:solidFill>
                <a:latin typeface="Calibri" pitchFamily="34" charset="0"/>
                <a:ea typeface="Calibri" pitchFamily="34" charset="-122"/>
                <a:cs typeface="Calibri" pitchFamily="34" charset="-120"/>
              </a:rPr>
              <a:t>→</a:t>
            </a:r>
            <a:endParaRPr lang="en-US" sz="1600"/>
          </a:p>
        </p:txBody>
      </p:sp>
      <p:sp>
        <p:nvSpPr>
          <p:cNvPr id="15" name="Shape 11"/>
          <p:cNvSpPr/>
          <p:nvPr/>
        </p:nvSpPr>
        <p:spPr>
          <a:xfrm>
            <a:off x="3712464" y="914400"/>
            <a:ext cx="1572768" cy="2651760"/>
          </a:xfrm>
          <a:prstGeom prst="roundRect">
            <a:avLst>
              <a:gd name="adj" fmla="val 5814"/>
            </a:avLst>
          </a:prstGeom>
          <a:solidFill>
            <a:srgbClr val="FFFFFF"/>
          </a:solidFill>
          <a:ln w="19050">
            <a:solidFill>
              <a:srgbClr val="0A9396"/>
            </a:solidFill>
            <a:prstDash val="solid"/>
          </a:ln>
          <a:effectLst>
            <a:outerShdw blurRad="101600" dist="38100" dir="2700000" algn="bl" rotWithShape="0">
              <a:srgbClr val="000000">
                <a:alpha val="18000"/>
              </a:srgbClr>
            </a:outerShdw>
          </a:effectLst>
        </p:spPr>
      </p:sp>
      <p:pic>
        <p:nvPicPr>
          <p:cNvPr id="16" name="Image 2" descr="preencoded.png"/>
          <p:cNvPicPr>
            <a:picLocks noChangeAspect="1"/>
          </p:cNvPicPr>
          <p:nvPr/>
        </p:nvPicPr>
        <p:blipFill>
          <a:blip r:embed="rId5"/>
          <a:stretch>
            <a:fillRect/>
          </a:stretch>
        </p:blipFill>
        <p:spPr>
          <a:xfrm>
            <a:off x="4178808" y="1051560"/>
            <a:ext cx="640080" cy="640080"/>
          </a:xfrm>
          <a:prstGeom prst="rect">
            <a:avLst/>
          </a:prstGeom>
        </p:spPr>
      </p:pic>
      <p:sp>
        <p:nvSpPr>
          <p:cNvPr id="17" name="Text 12"/>
          <p:cNvSpPr/>
          <p:nvPr/>
        </p:nvSpPr>
        <p:spPr>
          <a:xfrm>
            <a:off x="3767328" y="1783080"/>
            <a:ext cx="1463040" cy="502920"/>
          </a:xfrm>
          <a:prstGeom prst="rect">
            <a:avLst/>
          </a:prstGeom>
          <a:noFill/>
          <a:ln/>
        </p:spPr>
        <p:txBody>
          <a:bodyPr wrap="square" lIns="0" tIns="0" rIns="0" bIns="0" rtlCol="0" anchor="ctr"/>
          <a:lstStyle/>
          <a:p>
            <a:pPr marL="0" indent="0" algn="ctr">
              <a:buNone/>
            </a:pPr>
            <a:r>
              <a:rPr lang="en-US" sz="1200" b="1">
                <a:solidFill>
                  <a:srgbClr val="0D1B2A"/>
                </a:solidFill>
                <a:latin typeface="Cambria" pitchFamily="34" charset="0"/>
                <a:ea typeface="Cambria" pitchFamily="34" charset="-122"/>
                <a:cs typeface="Cambria" pitchFamily="34" charset="-120"/>
              </a:rPr>
              <a:t>YOLO Object</a:t>
            </a:r>
            <a:endParaRPr lang="en-US" sz="1200"/>
          </a:p>
          <a:p>
            <a:pPr marL="0" indent="0" algn="ctr">
              <a:buNone/>
            </a:pPr>
            <a:r>
              <a:rPr lang="en-US" sz="1200" b="1">
                <a:solidFill>
                  <a:srgbClr val="0D1B2A"/>
                </a:solidFill>
                <a:latin typeface="Cambria" pitchFamily="34" charset="0"/>
                <a:ea typeface="Cambria" pitchFamily="34" charset="-122"/>
                <a:cs typeface="Cambria" pitchFamily="34" charset="-120"/>
              </a:rPr>
              <a:t>Detection</a:t>
            </a:r>
            <a:endParaRPr lang="en-US" sz="1200"/>
          </a:p>
        </p:txBody>
      </p:sp>
      <p:sp>
        <p:nvSpPr>
          <p:cNvPr id="18" name="Text 13"/>
          <p:cNvSpPr/>
          <p:nvPr/>
        </p:nvSpPr>
        <p:spPr>
          <a:xfrm>
            <a:off x="3767328" y="2331720"/>
            <a:ext cx="1463040" cy="914400"/>
          </a:xfrm>
          <a:prstGeom prst="rect">
            <a:avLst/>
          </a:prstGeom>
          <a:noFill/>
          <a:ln/>
        </p:spPr>
        <p:txBody>
          <a:bodyPr wrap="square" lIns="0" tIns="0" rIns="0" bIns="0" rtlCol="0" anchor="ctr"/>
          <a:lstStyle/>
          <a:p>
            <a:pPr marL="0" indent="0" algn="ctr">
              <a:buNone/>
            </a:pPr>
            <a:r>
              <a:rPr lang="en-US" sz="1050">
                <a:solidFill>
                  <a:srgbClr val="718096"/>
                </a:solidFill>
                <a:latin typeface="Calibri" pitchFamily="34" charset="0"/>
                <a:ea typeface="Calibri" pitchFamily="34" charset="-122"/>
                <a:cs typeface="Calibri" pitchFamily="34" charset="-120"/>
              </a:rPr>
              <a:t>Spots obstacles &amp; signs in real time</a:t>
            </a:r>
            <a:endParaRPr lang="en-US" sz="1050"/>
          </a:p>
        </p:txBody>
      </p:sp>
      <p:sp>
        <p:nvSpPr>
          <p:cNvPr id="19" name="Shape 14"/>
          <p:cNvSpPr/>
          <p:nvPr/>
        </p:nvSpPr>
        <p:spPr>
          <a:xfrm>
            <a:off x="5285232" y="2148840"/>
            <a:ext cx="128016" cy="164592"/>
          </a:xfrm>
          <a:prstGeom prst="rect">
            <a:avLst/>
          </a:prstGeom>
          <a:solidFill>
            <a:srgbClr val="0A9396"/>
          </a:solidFill>
          <a:ln w="12700">
            <a:solidFill>
              <a:srgbClr val="0A9396"/>
            </a:solidFill>
            <a:prstDash val="solid"/>
          </a:ln>
        </p:spPr>
      </p:sp>
      <p:sp>
        <p:nvSpPr>
          <p:cNvPr id="20" name="Text 15"/>
          <p:cNvSpPr/>
          <p:nvPr/>
        </p:nvSpPr>
        <p:spPr>
          <a:xfrm>
            <a:off x="5294376" y="2084832"/>
            <a:ext cx="128016" cy="256032"/>
          </a:xfrm>
          <a:prstGeom prst="rect">
            <a:avLst/>
          </a:prstGeom>
          <a:noFill/>
          <a:ln/>
        </p:spPr>
        <p:txBody>
          <a:bodyPr wrap="square" lIns="0" tIns="0" rIns="0" bIns="0" rtlCol="0" anchor="ctr"/>
          <a:lstStyle/>
          <a:p>
            <a:pPr marL="0" indent="0" algn="ctr">
              <a:buNone/>
            </a:pPr>
            <a:r>
              <a:rPr lang="en-US" sz="1600">
                <a:solidFill>
                  <a:srgbClr val="0A9396"/>
                </a:solidFill>
                <a:latin typeface="Calibri" pitchFamily="34" charset="0"/>
                <a:ea typeface="Calibri" pitchFamily="34" charset="-122"/>
                <a:cs typeface="Calibri" pitchFamily="34" charset="-120"/>
              </a:rPr>
              <a:t>→</a:t>
            </a:r>
            <a:endParaRPr lang="en-US" sz="1600"/>
          </a:p>
        </p:txBody>
      </p:sp>
      <p:sp>
        <p:nvSpPr>
          <p:cNvPr id="21" name="Shape 16"/>
          <p:cNvSpPr/>
          <p:nvPr/>
        </p:nvSpPr>
        <p:spPr>
          <a:xfrm>
            <a:off x="5431536" y="914400"/>
            <a:ext cx="1572768" cy="2651760"/>
          </a:xfrm>
          <a:prstGeom prst="roundRect">
            <a:avLst>
              <a:gd name="adj" fmla="val 5814"/>
            </a:avLst>
          </a:prstGeom>
          <a:solidFill>
            <a:srgbClr val="005F73"/>
          </a:solidFill>
          <a:ln w="19050">
            <a:solidFill>
              <a:srgbClr val="0A9396"/>
            </a:solidFill>
            <a:prstDash val="solid"/>
          </a:ln>
          <a:effectLst>
            <a:outerShdw blurRad="101600" dist="38100" dir="2700000" algn="bl" rotWithShape="0">
              <a:srgbClr val="000000">
                <a:alpha val="18000"/>
              </a:srgbClr>
            </a:outerShdw>
          </a:effectLst>
        </p:spPr>
      </p:sp>
      <p:pic>
        <p:nvPicPr>
          <p:cNvPr id="22" name="Image 3" descr="preencoded.png"/>
          <p:cNvPicPr>
            <a:picLocks noChangeAspect="1"/>
          </p:cNvPicPr>
          <p:nvPr/>
        </p:nvPicPr>
        <p:blipFill>
          <a:blip r:embed="rId6"/>
          <a:stretch>
            <a:fillRect/>
          </a:stretch>
        </p:blipFill>
        <p:spPr>
          <a:xfrm>
            <a:off x="5897880" y="1051560"/>
            <a:ext cx="640080" cy="640080"/>
          </a:xfrm>
          <a:prstGeom prst="rect">
            <a:avLst/>
          </a:prstGeom>
        </p:spPr>
      </p:pic>
      <p:sp>
        <p:nvSpPr>
          <p:cNvPr id="23" name="Text 17"/>
          <p:cNvSpPr/>
          <p:nvPr/>
        </p:nvSpPr>
        <p:spPr>
          <a:xfrm>
            <a:off x="5486400" y="178308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mbria" pitchFamily="34" charset="0"/>
                <a:ea typeface="Cambria" pitchFamily="34" charset="-122"/>
                <a:cs typeface="Cambria" pitchFamily="34" charset="-120"/>
              </a:rPr>
              <a:t>Fusion Layer</a:t>
            </a:r>
            <a:endParaRPr lang="en-US" sz="1200"/>
          </a:p>
        </p:txBody>
      </p:sp>
      <p:sp>
        <p:nvSpPr>
          <p:cNvPr id="24" name="Text 18"/>
          <p:cNvSpPr/>
          <p:nvPr/>
        </p:nvSpPr>
        <p:spPr>
          <a:xfrm>
            <a:off x="5486400" y="2331720"/>
            <a:ext cx="1463040" cy="914400"/>
          </a:xfrm>
          <a:prstGeom prst="rect">
            <a:avLst/>
          </a:prstGeom>
          <a:noFill/>
          <a:ln/>
        </p:spPr>
        <p:txBody>
          <a:bodyPr wrap="square" lIns="0" tIns="0" rIns="0" bIns="0" rtlCol="0" anchor="ctr"/>
          <a:lstStyle/>
          <a:p>
            <a:pPr marL="0" indent="0" algn="ctr">
              <a:buNone/>
            </a:pPr>
            <a:r>
              <a:rPr lang="en-US" sz="1050">
                <a:solidFill>
                  <a:srgbClr val="94D2BD"/>
                </a:solidFill>
                <a:latin typeface="Calibri" pitchFamily="34" charset="0"/>
                <a:ea typeface="Calibri" pitchFamily="34" charset="-122"/>
                <a:cs typeface="Calibri" pitchFamily="34" charset="-120"/>
              </a:rPr>
              <a:t>Combines both into one map of the world</a:t>
            </a:r>
            <a:endParaRPr lang="en-US" sz="1050"/>
          </a:p>
        </p:txBody>
      </p:sp>
      <p:sp>
        <p:nvSpPr>
          <p:cNvPr id="25" name="Shape 19"/>
          <p:cNvSpPr/>
          <p:nvPr/>
        </p:nvSpPr>
        <p:spPr>
          <a:xfrm>
            <a:off x="7004304" y="2148840"/>
            <a:ext cx="128016" cy="164592"/>
          </a:xfrm>
          <a:prstGeom prst="rect">
            <a:avLst/>
          </a:prstGeom>
          <a:solidFill>
            <a:srgbClr val="0A9396"/>
          </a:solidFill>
          <a:ln w="12700">
            <a:solidFill>
              <a:srgbClr val="0A9396"/>
            </a:solidFill>
            <a:prstDash val="solid"/>
          </a:ln>
        </p:spPr>
      </p:sp>
      <p:sp>
        <p:nvSpPr>
          <p:cNvPr id="26" name="Text 20"/>
          <p:cNvSpPr/>
          <p:nvPr/>
        </p:nvSpPr>
        <p:spPr>
          <a:xfrm>
            <a:off x="7013448" y="2084832"/>
            <a:ext cx="128016" cy="256032"/>
          </a:xfrm>
          <a:prstGeom prst="rect">
            <a:avLst/>
          </a:prstGeom>
          <a:noFill/>
          <a:ln/>
        </p:spPr>
        <p:txBody>
          <a:bodyPr wrap="square" lIns="0" tIns="0" rIns="0" bIns="0" rtlCol="0" anchor="ctr"/>
          <a:lstStyle/>
          <a:p>
            <a:pPr marL="0" indent="0" algn="ctr">
              <a:buNone/>
            </a:pPr>
            <a:r>
              <a:rPr lang="en-US" sz="1600">
                <a:solidFill>
                  <a:srgbClr val="0A9396"/>
                </a:solidFill>
                <a:latin typeface="Calibri" pitchFamily="34" charset="0"/>
                <a:ea typeface="Calibri" pitchFamily="34" charset="-122"/>
                <a:cs typeface="Calibri" pitchFamily="34" charset="-120"/>
              </a:rPr>
              <a:t>→</a:t>
            </a:r>
            <a:endParaRPr lang="en-US" sz="1600"/>
          </a:p>
        </p:txBody>
      </p:sp>
      <p:sp>
        <p:nvSpPr>
          <p:cNvPr id="27" name="Shape 21"/>
          <p:cNvSpPr/>
          <p:nvPr/>
        </p:nvSpPr>
        <p:spPr>
          <a:xfrm>
            <a:off x="7150608" y="914400"/>
            <a:ext cx="1572768" cy="2651760"/>
          </a:xfrm>
          <a:prstGeom prst="roundRect">
            <a:avLst>
              <a:gd name="adj" fmla="val 5814"/>
            </a:avLst>
          </a:prstGeom>
          <a:solidFill>
            <a:srgbClr val="0D1B2A"/>
          </a:solidFill>
          <a:ln w="19050">
            <a:solidFill>
              <a:srgbClr val="0A9396"/>
            </a:solidFill>
            <a:prstDash val="solid"/>
          </a:ln>
          <a:effectLst>
            <a:outerShdw blurRad="101600" dist="38100" dir="2700000" algn="bl" rotWithShape="0">
              <a:srgbClr val="000000">
                <a:alpha val="18000"/>
              </a:srgbClr>
            </a:outerShdw>
          </a:effectLst>
        </p:spPr>
      </p:sp>
      <p:pic>
        <p:nvPicPr>
          <p:cNvPr id="28" name="Image 4" descr="preencoded.png"/>
          <p:cNvPicPr>
            <a:picLocks noChangeAspect="1"/>
          </p:cNvPicPr>
          <p:nvPr/>
        </p:nvPicPr>
        <p:blipFill>
          <a:blip r:embed="rId7"/>
          <a:stretch>
            <a:fillRect/>
          </a:stretch>
        </p:blipFill>
        <p:spPr>
          <a:xfrm>
            <a:off x="7616952" y="1051560"/>
            <a:ext cx="640080" cy="640080"/>
          </a:xfrm>
          <a:prstGeom prst="rect">
            <a:avLst/>
          </a:prstGeom>
        </p:spPr>
      </p:pic>
      <p:sp>
        <p:nvSpPr>
          <p:cNvPr id="29" name="Text 22"/>
          <p:cNvSpPr/>
          <p:nvPr/>
        </p:nvSpPr>
        <p:spPr>
          <a:xfrm>
            <a:off x="7205472" y="178308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mbria" pitchFamily="34" charset="0"/>
                <a:ea typeface="Cambria" pitchFamily="34" charset="-122"/>
                <a:cs typeface="Cambria" pitchFamily="34" charset="-120"/>
              </a:rPr>
              <a:t>Control</a:t>
            </a:r>
            <a:endParaRPr lang="en-US" sz="1200"/>
          </a:p>
          <a:p>
            <a:pPr marL="0" indent="0" algn="ctr">
              <a:buNone/>
            </a:pPr>
            <a:r>
              <a:rPr lang="en-US" sz="1200" b="1">
                <a:solidFill>
                  <a:srgbClr val="FFFFFF"/>
                </a:solidFill>
                <a:latin typeface="Cambria" pitchFamily="34" charset="0"/>
                <a:ea typeface="Cambria" pitchFamily="34" charset="-122"/>
                <a:cs typeface="Cambria" pitchFamily="34" charset="-120"/>
              </a:rPr>
              <a:t>Policy</a:t>
            </a:r>
            <a:endParaRPr lang="en-US" sz="1200"/>
          </a:p>
        </p:txBody>
      </p:sp>
      <p:sp>
        <p:nvSpPr>
          <p:cNvPr id="30" name="Text 23"/>
          <p:cNvSpPr/>
          <p:nvPr/>
        </p:nvSpPr>
        <p:spPr>
          <a:xfrm>
            <a:off x="7205472" y="2331720"/>
            <a:ext cx="1463040" cy="914400"/>
          </a:xfrm>
          <a:prstGeom prst="rect">
            <a:avLst/>
          </a:prstGeom>
          <a:noFill/>
          <a:ln/>
        </p:spPr>
        <p:txBody>
          <a:bodyPr wrap="square" lIns="0" tIns="0" rIns="0" bIns="0" rtlCol="0" anchor="ctr"/>
          <a:lstStyle/>
          <a:p>
            <a:pPr marL="0" indent="0" algn="ctr">
              <a:buNone/>
            </a:pPr>
            <a:r>
              <a:rPr lang="en-US" sz="1050">
                <a:solidFill>
                  <a:srgbClr val="94D2BD"/>
                </a:solidFill>
                <a:latin typeface="Calibri" pitchFamily="34" charset="0"/>
                <a:ea typeface="Calibri" pitchFamily="34" charset="-122"/>
                <a:cs typeface="Calibri" pitchFamily="34" charset="-120"/>
              </a:rPr>
              <a:t>Decides: steer, stop, or go</a:t>
            </a:r>
            <a:endParaRPr lang="en-US" sz="1050"/>
          </a:p>
        </p:txBody>
      </p:sp>
      <p:sp>
        <p:nvSpPr>
          <p:cNvPr id="31" name="Text 24"/>
          <p:cNvSpPr/>
          <p:nvPr/>
        </p:nvSpPr>
        <p:spPr>
          <a:xfrm>
            <a:off x="274320" y="3749040"/>
            <a:ext cx="8595360" cy="320040"/>
          </a:xfrm>
          <a:prstGeom prst="rect">
            <a:avLst/>
          </a:prstGeom>
          <a:noFill/>
          <a:ln/>
        </p:spPr>
        <p:txBody>
          <a:bodyPr wrap="square" lIns="0" tIns="0" rIns="0" bIns="0" rtlCol="0" anchor="ctr"/>
          <a:lstStyle/>
          <a:p>
            <a:pPr marL="0" indent="0" algn="ctr">
              <a:buNone/>
            </a:pPr>
            <a:r>
              <a:rPr lang="en-US" sz="1200" i="1">
                <a:solidFill>
                  <a:srgbClr val="718096"/>
                </a:solidFill>
                <a:latin typeface="Calibri" pitchFamily="34" charset="0"/>
                <a:ea typeface="Calibri" pitchFamily="34" charset="-122"/>
                <a:cs typeface="Calibri" pitchFamily="34" charset="-120"/>
              </a:rPr>
              <a:t>Camera → Detect lanes &amp; objects → Fuse information → Make a driving decision</a:t>
            </a:r>
            <a:endParaRPr lang="en-US" sz="1200"/>
          </a:p>
        </p:txBody>
      </p:sp>
      <p:sp>
        <p:nvSpPr>
          <p:cNvPr id="32" name="Shape 25"/>
          <p:cNvSpPr/>
          <p:nvPr/>
        </p:nvSpPr>
        <p:spPr>
          <a:xfrm>
            <a:off x="457200" y="4160520"/>
            <a:ext cx="1280160" cy="320040"/>
          </a:xfrm>
          <a:prstGeom prst="roundRect">
            <a:avLst>
              <a:gd name="adj" fmla="val 22857"/>
            </a:avLst>
          </a:prstGeom>
          <a:solidFill>
            <a:srgbClr val="2D3748"/>
          </a:solidFill>
          <a:ln w="12700">
            <a:solidFill>
              <a:srgbClr val="0A9396"/>
            </a:solidFill>
            <a:prstDash val="solid"/>
          </a:ln>
        </p:spPr>
      </p:sp>
      <p:sp>
        <p:nvSpPr>
          <p:cNvPr id="33" name="Text 26"/>
          <p:cNvSpPr/>
          <p:nvPr/>
        </p:nvSpPr>
        <p:spPr>
          <a:xfrm>
            <a:off x="45720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CUDA 12.6</a:t>
            </a:r>
            <a:endParaRPr lang="en-US" sz="1000"/>
          </a:p>
        </p:txBody>
      </p:sp>
      <p:sp>
        <p:nvSpPr>
          <p:cNvPr id="34" name="Shape 27"/>
          <p:cNvSpPr/>
          <p:nvPr/>
        </p:nvSpPr>
        <p:spPr>
          <a:xfrm>
            <a:off x="1874520" y="4160520"/>
            <a:ext cx="1280160" cy="320040"/>
          </a:xfrm>
          <a:prstGeom prst="roundRect">
            <a:avLst>
              <a:gd name="adj" fmla="val 22857"/>
            </a:avLst>
          </a:prstGeom>
          <a:solidFill>
            <a:srgbClr val="2D3748"/>
          </a:solidFill>
          <a:ln w="12700">
            <a:solidFill>
              <a:srgbClr val="0A9396"/>
            </a:solidFill>
            <a:prstDash val="solid"/>
          </a:ln>
        </p:spPr>
      </p:sp>
      <p:sp>
        <p:nvSpPr>
          <p:cNvPr id="35" name="Text 28"/>
          <p:cNvSpPr/>
          <p:nvPr/>
        </p:nvSpPr>
        <p:spPr>
          <a:xfrm>
            <a:off x="187452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TensorRT 10</a:t>
            </a:r>
            <a:endParaRPr lang="en-US" sz="1000"/>
          </a:p>
        </p:txBody>
      </p:sp>
      <p:sp>
        <p:nvSpPr>
          <p:cNvPr id="36" name="Shape 29"/>
          <p:cNvSpPr/>
          <p:nvPr/>
        </p:nvSpPr>
        <p:spPr>
          <a:xfrm>
            <a:off x="3291840" y="4160520"/>
            <a:ext cx="1280160" cy="320040"/>
          </a:xfrm>
          <a:prstGeom prst="roundRect">
            <a:avLst>
              <a:gd name="adj" fmla="val 22857"/>
            </a:avLst>
          </a:prstGeom>
          <a:solidFill>
            <a:srgbClr val="2D3748"/>
          </a:solidFill>
          <a:ln w="12700">
            <a:solidFill>
              <a:srgbClr val="0A9396"/>
            </a:solidFill>
            <a:prstDash val="solid"/>
          </a:ln>
        </p:spPr>
      </p:sp>
      <p:sp>
        <p:nvSpPr>
          <p:cNvPr id="37" name="Text 30"/>
          <p:cNvSpPr/>
          <p:nvPr/>
        </p:nvSpPr>
        <p:spPr>
          <a:xfrm>
            <a:off x="329184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OpenCV 4.8</a:t>
            </a:r>
            <a:endParaRPr lang="en-US" sz="1000"/>
          </a:p>
        </p:txBody>
      </p:sp>
      <p:sp>
        <p:nvSpPr>
          <p:cNvPr id="38" name="Shape 31"/>
          <p:cNvSpPr/>
          <p:nvPr/>
        </p:nvSpPr>
        <p:spPr>
          <a:xfrm>
            <a:off x="4709160" y="4160520"/>
            <a:ext cx="1280160" cy="320040"/>
          </a:xfrm>
          <a:prstGeom prst="roundRect">
            <a:avLst>
              <a:gd name="adj" fmla="val 22857"/>
            </a:avLst>
          </a:prstGeom>
          <a:solidFill>
            <a:srgbClr val="2D3748"/>
          </a:solidFill>
          <a:ln w="12700">
            <a:solidFill>
              <a:srgbClr val="0A9396"/>
            </a:solidFill>
            <a:prstDash val="solid"/>
          </a:ln>
        </p:spPr>
      </p:sp>
      <p:sp>
        <p:nvSpPr>
          <p:cNvPr id="39" name="Text 32"/>
          <p:cNvSpPr/>
          <p:nvPr/>
        </p:nvSpPr>
        <p:spPr>
          <a:xfrm>
            <a:off x="470916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YOLOv8</a:t>
            </a:r>
            <a:endParaRPr lang="en-US" sz="1000"/>
          </a:p>
        </p:txBody>
      </p:sp>
      <p:sp>
        <p:nvSpPr>
          <p:cNvPr id="40" name="Shape 33"/>
          <p:cNvSpPr/>
          <p:nvPr/>
        </p:nvSpPr>
        <p:spPr>
          <a:xfrm>
            <a:off x="6126480" y="4160520"/>
            <a:ext cx="1280160" cy="320040"/>
          </a:xfrm>
          <a:prstGeom prst="roundRect">
            <a:avLst>
              <a:gd name="adj" fmla="val 22857"/>
            </a:avLst>
          </a:prstGeom>
          <a:solidFill>
            <a:srgbClr val="2D3748"/>
          </a:solidFill>
          <a:ln w="12700">
            <a:solidFill>
              <a:srgbClr val="0A9396"/>
            </a:solidFill>
            <a:prstDash val="solid"/>
          </a:ln>
        </p:spPr>
      </p:sp>
      <p:sp>
        <p:nvSpPr>
          <p:cNvPr id="41" name="Text 34"/>
          <p:cNvSpPr/>
          <p:nvPr/>
        </p:nvSpPr>
        <p:spPr>
          <a:xfrm>
            <a:off x="612648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GStreamer</a:t>
            </a:r>
            <a:endParaRPr lang="en-US" sz="1000"/>
          </a:p>
        </p:txBody>
      </p:sp>
      <p:sp>
        <p:nvSpPr>
          <p:cNvPr id="42" name="Shape 35"/>
          <p:cNvSpPr/>
          <p:nvPr/>
        </p:nvSpPr>
        <p:spPr>
          <a:xfrm>
            <a:off x="7543800" y="4160520"/>
            <a:ext cx="1280160" cy="320040"/>
          </a:xfrm>
          <a:prstGeom prst="roundRect">
            <a:avLst>
              <a:gd name="adj" fmla="val 22857"/>
            </a:avLst>
          </a:prstGeom>
          <a:solidFill>
            <a:srgbClr val="2D3748"/>
          </a:solidFill>
          <a:ln w="12700">
            <a:solidFill>
              <a:srgbClr val="0A9396"/>
            </a:solidFill>
            <a:prstDash val="solid"/>
          </a:ln>
        </p:spPr>
      </p:sp>
      <p:sp>
        <p:nvSpPr>
          <p:cNvPr id="43" name="Text 36"/>
          <p:cNvSpPr/>
          <p:nvPr/>
        </p:nvSpPr>
        <p:spPr>
          <a:xfrm>
            <a:off x="7543800" y="4178808"/>
            <a:ext cx="1280160" cy="283464"/>
          </a:xfrm>
          <a:prstGeom prst="rect">
            <a:avLst/>
          </a:prstGeom>
          <a:noFill/>
          <a:ln/>
        </p:spPr>
        <p:txBody>
          <a:bodyPr wrap="square" lIns="0" tIns="0" rIns="0" bIns="0" rtlCol="0" anchor="ctr"/>
          <a:lstStyle/>
          <a:p>
            <a:pPr marL="0" indent="0" algn="ctr">
              <a:buNone/>
            </a:pPr>
            <a:r>
              <a:rPr lang="en-US" sz="1000" b="1">
                <a:solidFill>
                  <a:srgbClr val="0A9396"/>
                </a:solidFill>
                <a:latin typeface="Calibri" pitchFamily="34" charset="0"/>
                <a:ea typeface="Calibri" pitchFamily="34" charset="-122"/>
                <a:cs typeface="Calibri" pitchFamily="34" charset="-120"/>
              </a:rPr>
              <a:t>JetPack 6.2</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r>
              <a:rPr lang="en-US" sz="2400" b="1">
                <a:solidFill>
                  <a:srgbClr val="0D1B2A"/>
                </a:solidFill>
                <a:latin typeface="Cambria"/>
                <a:ea typeface="Cambria"/>
                <a:cs typeface="Cambria" pitchFamily="34" charset="-120"/>
              </a:rPr>
              <a:t>Results — Chipping Away at the Compatibility Challenge</a:t>
            </a:r>
            <a:endParaRPr lang="en-US" sz="2400">
              <a:latin typeface="Cambria"/>
              <a:ea typeface="Cambria"/>
            </a:endParaRPr>
          </a:p>
        </p:txBody>
      </p:sp>
      <p:sp>
        <p:nvSpPr>
          <p:cNvPr id="3" name="Text 1"/>
          <p:cNvSpPr/>
          <p:nvPr/>
        </p:nvSpPr>
        <p:spPr>
          <a:xfrm>
            <a:off x="365760" y="777240"/>
            <a:ext cx="8412480" cy="457200"/>
          </a:xfrm>
          <a:prstGeom prst="rect">
            <a:avLst/>
          </a:prstGeom>
          <a:noFill/>
          <a:ln/>
        </p:spPr>
        <p:txBody>
          <a:bodyPr wrap="square" lIns="0" tIns="0" rIns="0" bIns="0" rtlCol="0" anchor="ctr"/>
          <a:lstStyle/>
          <a:p>
            <a:pPr marL="0" indent="0">
              <a:buNone/>
            </a:pPr>
            <a:r>
              <a:rPr lang="en-US" sz="1300">
                <a:solidFill>
                  <a:srgbClr val="2D3748"/>
                </a:solidFill>
                <a:latin typeface="Calibri" pitchFamily="34" charset="0"/>
                <a:ea typeface="Calibri" pitchFamily="34" charset="-122"/>
                <a:cs typeface="Calibri" pitchFamily="34" charset="-120"/>
              </a:rPr>
              <a:t>The JETANK kit was built for an older chip (Jetson Nano). We used its newer successor (Jetson Orin Nano). Almost nothing worked out of the box.</a:t>
            </a:r>
            <a:endParaRPr lang="en-US" sz="1300"/>
          </a:p>
        </p:txBody>
      </p:sp>
      <p:sp>
        <p:nvSpPr>
          <p:cNvPr id="4" name="Shape 2"/>
          <p:cNvSpPr/>
          <p:nvPr/>
        </p:nvSpPr>
        <p:spPr>
          <a:xfrm>
            <a:off x="274320" y="137160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5" name="Image 0" descr="preencoded.png"/>
          <p:cNvPicPr>
            <a:picLocks noChangeAspect="1"/>
          </p:cNvPicPr>
          <p:nvPr/>
        </p:nvPicPr>
        <p:blipFill>
          <a:blip r:embed="rId3"/>
          <a:stretch>
            <a:fillRect/>
          </a:stretch>
        </p:blipFill>
        <p:spPr>
          <a:xfrm>
            <a:off x="384048" y="1463040"/>
            <a:ext cx="365760" cy="365760"/>
          </a:xfrm>
          <a:prstGeom prst="rect">
            <a:avLst/>
          </a:prstGeom>
        </p:spPr>
      </p:pic>
      <p:sp>
        <p:nvSpPr>
          <p:cNvPr id="6" name="Text 3"/>
          <p:cNvSpPr/>
          <p:nvPr/>
        </p:nvSpPr>
        <p:spPr>
          <a:xfrm>
            <a:off x="822960" y="146304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pitchFamily="34" charset="0"/>
                <a:ea typeface="Cambria" pitchFamily="34" charset="-122"/>
                <a:cs typeface="Cambria" pitchFamily="34" charset="-120"/>
              </a:rPr>
              <a:t>Wrong Operating System</a:t>
            </a:r>
            <a:endParaRPr lang="en-US" sz="1200"/>
          </a:p>
        </p:txBody>
      </p:sp>
      <p:sp>
        <p:nvSpPr>
          <p:cNvPr id="7" name="Text 4"/>
          <p:cNvSpPr/>
          <p:nvPr/>
        </p:nvSpPr>
        <p:spPr>
          <a:xfrm>
            <a:off x="384048" y="1847088"/>
            <a:ext cx="3063240" cy="548640"/>
          </a:xfrm>
          <a:prstGeom prst="rect">
            <a:avLst/>
          </a:prstGeom>
          <a:noFill/>
          <a:ln/>
        </p:spPr>
        <p:txBody>
          <a:bodyPr wrap="square" lIns="0" tIns="0" rIns="0" bIns="0" rtlCol="0" anchor="ctr"/>
          <a:lstStyle/>
          <a:p>
            <a:r>
              <a:rPr lang="en-US" sz="1050">
                <a:solidFill>
                  <a:srgbClr val="2D3748"/>
                </a:solidFill>
                <a:latin typeface="Calibri"/>
                <a:ea typeface="Calibri"/>
                <a:cs typeface="Calibri"/>
              </a:rPr>
              <a:t>5 different OS images tried before one booted. The hardware was a </a:t>
            </a:r>
            <a:r>
              <a:rPr lang="en-US" sz="1100">
                <a:solidFill>
                  <a:srgbClr val="2D3748"/>
                </a:solidFill>
                <a:latin typeface="Calibri"/>
                <a:ea typeface="Calibri"/>
                <a:cs typeface="Calibri"/>
              </a:rPr>
              <a:t>newer </a:t>
            </a:r>
            <a:r>
              <a:rPr lang="en-US" sz="1050">
                <a:solidFill>
                  <a:srgbClr val="2D3748"/>
                </a:solidFill>
                <a:latin typeface="Calibri"/>
                <a:ea typeface="Calibri"/>
                <a:cs typeface="Calibri"/>
              </a:rPr>
              <a:t>generation that the kit's software was not made for.</a:t>
            </a:r>
            <a:endParaRPr lang="en-US" sz="1050">
              <a:latin typeface="Calibri"/>
              <a:ea typeface="Calibri"/>
              <a:cs typeface="Calibri"/>
            </a:endParaRPr>
          </a:p>
        </p:txBody>
      </p:sp>
      <p:sp>
        <p:nvSpPr>
          <p:cNvPr id="8" name="Shape 5"/>
          <p:cNvSpPr/>
          <p:nvPr/>
        </p:nvSpPr>
        <p:spPr>
          <a:xfrm>
            <a:off x="3474720" y="1463040"/>
            <a:ext cx="850392" cy="256032"/>
          </a:xfrm>
          <a:prstGeom prst="roundRect">
            <a:avLst>
              <a:gd name="adj" fmla="val 21429"/>
            </a:avLst>
          </a:prstGeom>
          <a:solidFill>
            <a:srgbClr val="40916C">
              <a:alpha val="80000"/>
            </a:srgbClr>
          </a:solidFill>
          <a:ln w="12700">
            <a:solidFill>
              <a:srgbClr val="40916C"/>
            </a:solidFill>
            <a:prstDash val="solid"/>
          </a:ln>
        </p:spPr>
      </p:sp>
      <p:sp>
        <p:nvSpPr>
          <p:cNvPr id="9" name="Text 6"/>
          <p:cNvSpPr/>
          <p:nvPr/>
        </p:nvSpPr>
        <p:spPr>
          <a:xfrm>
            <a:off x="3474720" y="146304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Resolved</a:t>
            </a:r>
            <a:endParaRPr lang="en-US" sz="850"/>
          </a:p>
        </p:txBody>
      </p:sp>
      <p:sp>
        <p:nvSpPr>
          <p:cNvPr id="10" name="Shape 7"/>
          <p:cNvSpPr/>
          <p:nvPr/>
        </p:nvSpPr>
        <p:spPr>
          <a:xfrm>
            <a:off x="4709160" y="137160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11" name="Image 1" descr="preencoded.png"/>
          <p:cNvPicPr>
            <a:picLocks noChangeAspect="1"/>
          </p:cNvPicPr>
          <p:nvPr/>
        </p:nvPicPr>
        <p:blipFill>
          <a:blip r:embed="rId4"/>
          <a:stretch>
            <a:fillRect/>
          </a:stretch>
        </p:blipFill>
        <p:spPr>
          <a:xfrm>
            <a:off x="4818888" y="1463040"/>
            <a:ext cx="365760" cy="365760"/>
          </a:xfrm>
          <a:prstGeom prst="rect">
            <a:avLst/>
          </a:prstGeom>
        </p:spPr>
      </p:pic>
      <p:sp>
        <p:nvSpPr>
          <p:cNvPr id="12" name="Text 8"/>
          <p:cNvSpPr/>
          <p:nvPr/>
        </p:nvSpPr>
        <p:spPr>
          <a:xfrm>
            <a:off x="5257800" y="146304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a:ea typeface="Cambria"/>
                <a:cs typeface="Cambria" pitchFamily="34" charset="-120"/>
              </a:rPr>
              <a:t>No Wi-Fi Out of the Box</a:t>
            </a:r>
            <a:endParaRPr lang="en-US" sz="1200">
              <a:latin typeface="Cambria"/>
              <a:ea typeface="Cambria"/>
            </a:endParaRPr>
          </a:p>
        </p:txBody>
      </p:sp>
      <p:sp>
        <p:nvSpPr>
          <p:cNvPr id="13" name="Text 9"/>
          <p:cNvSpPr/>
          <p:nvPr/>
        </p:nvSpPr>
        <p:spPr>
          <a:xfrm>
            <a:off x="4818888" y="1847088"/>
            <a:ext cx="3063240" cy="54864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The wireless driver was missing from the stripped-down OS. We manually compiled and installed it.</a:t>
            </a:r>
            <a:endParaRPr lang="en-US" sz="1050"/>
          </a:p>
        </p:txBody>
      </p:sp>
      <p:sp>
        <p:nvSpPr>
          <p:cNvPr id="14" name="Shape 10"/>
          <p:cNvSpPr/>
          <p:nvPr/>
        </p:nvSpPr>
        <p:spPr>
          <a:xfrm>
            <a:off x="7909560" y="1463040"/>
            <a:ext cx="850392" cy="256032"/>
          </a:xfrm>
          <a:prstGeom prst="roundRect">
            <a:avLst>
              <a:gd name="adj" fmla="val 21429"/>
            </a:avLst>
          </a:prstGeom>
          <a:solidFill>
            <a:srgbClr val="40916C">
              <a:alpha val="80000"/>
            </a:srgbClr>
          </a:solidFill>
          <a:ln w="12700">
            <a:solidFill>
              <a:srgbClr val="40916C"/>
            </a:solidFill>
            <a:prstDash val="solid"/>
          </a:ln>
        </p:spPr>
      </p:sp>
      <p:sp>
        <p:nvSpPr>
          <p:cNvPr id="15" name="Text 11"/>
          <p:cNvSpPr/>
          <p:nvPr/>
        </p:nvSpPr>
        <p:spPr>
          <a:xfrm>
            <a:off x="7909560" y="146304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Resolved</a:t>
            </a:r>
            <a:endParaRPr lang="en-US" sz="850"/>
          </a:p>
        </p:txBody>
      </p:sp>
      <p:sp>
        <p:nvSpPr>
          <p:cNvPr id="16" name="Shape 12"/>
          <p:cNvSpPr/>
          <p:nvPr/>
        </p:nvSpPr>
        <p:spPr>
          <a:xfrm>
            <a:off x="274320" y="260604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17" name="Image 2" descr="preencoded.png"/>
          <p:cNvPicPr>
            <a:picLocks noChangeAspect="1"/>
          </p:cNvPicPr>
          <p:nvPr/>
        </p:nvPicPr>
        <p:blipFill>
          <a:blip r:embed="rId5"/>
          <a:stretch>
            <a:fillRect/>
          </a:stretch>
        </p:blipFill>
        <p:spPr>
          <a:xfrm>
            <a:off x="384048" y="2697480"/>
            <a:ext cx="365760" cy="365760"/>
          </a:xfrm>
          <a:prstGeom prst="rect">
            <a:avLst/>
          </a:prstGeom>
        </p:spPr>
      </p:pic>
      <p:sp>
        <p:nvSpPr>
          <p:cNvPr id="18" name="Text 13"/>
          <p:cNvSpPr/>
          <p:nvPr/>
        </p:nvSpPr>
        <p:spPr>
          <a:xfrm>
            <a:off x="822960" y="269748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pitchFamily="34" charset="0"/>
                <a:ea typeface="Cambria" pitchFamily="34" charset="-122"/>
                <a:cs typeface="Cambria" pitchFamily="34" charset="-120"/>
              </a:rPr>
              <a:t>Power Incompatibility</a:t>
            </a:r>
            <a:endParaRPr lang="en-US" sz="1200"/>
          </a:p>
        </p:txBody>
      </p:sp>
      <p:sp>
        <p:nvSpPr>
          <p:cNvPr id="19" name="Text 14"/>
          <p:cNvSpPr/>
          <p:nvPr/>
        </p:nvSpPr>
        <p:spPr>
          <a:xfrm>
            <a:off x="384048" y="3081528"/>
            <a:ext cx="3063240" cy="548640"/>
          </a:xfrm>
          <a:prstGeom prst="rect">
            <a:avLst/>
          </a:prstGeom>
          <a:noFill/>
          <a:ln/>
        </p:spPr>
        <p:txBody>
          <a:bodyPr wrap="square" lIns="0" tIns="0" rIns="0" bIns="0" rtlCol="0" anchor="ctr"/>
          <a:lstStyle/>
          <a:p>
            <a:r>
              <a:rPr lang="en-US" sz="1050">
                <a:solidFill>
                  <a:srgbClr val="2D3748"/>
                </a:solidFill>
                <a:latin typeface="Calibri"/>
                <a:ea typeface="Calibri"/>
                <a:cs typeface="Calibri"/>
              </a:rPr>
              <a:t>The kit's power board outputs 5V. The new Jetson needs 9–20V. We designed a split power system with a USB-C power bank.</a:t>
            </a:r>
            <a:endParaRPr lang="en-US" sz="1050">
              <a:latin typeface="Calibri"/>
              <a:ea typeface="Calibri"/>
              <a:cs typeface="Calibri"/>
            </a:endParaRPr>
          </a:p>
        </p:txBody>
      </p:sp>
      <p:sp>
        <p:nvSpPr>
          <p:cNvPr id="20" name="Shape 15"/>
          <p:cNvSpPr/>
          <p:nvPr/>
        </p:nvSpPr>
        <p:spPr>
          <a:xfrm>
            <a:off x="3474720" y="2697480"/>
            <a:ext cx="850392" cy="256032"/>
          </a:xfrm>
          <a:prstGeom prst="roundRect">
            <a:avLst>
              <a:gd name="adj" fmla="val 21429"/>
            </a:avLst>
          </a:prstGeom>
          <a:solidFill>
            <a:srgbClr val="40916C">
              <a:alpha val="80000"/>
            </a:srgbClr>
          </a:solidFill>
          <a:ln w="12700">
            <a:solidFill>
              <a:srgbClr val="40916C"/>
            </a:solidFill>
            <a:prstDash val="solid"/>
          </a:ln>
        </p:spPr>
      </p:sp>
      <p:sp>
        <p:nvSpPr>
          <p:cNvPr id="21" name="Text 16"/>
          <p:cNvSpPr/>
          <p:nvPr/>
        </p:nvSpPr>
        <p:spPr>
          <a:xfrm>
            <a:off x="3474720" y="269748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Resolved</a:t>
            </a:r>
            <a:endParaRPr lang="en-US" sz="850"/>
          </a:p>
        </p:txBody>
      </p:sp>
      <p:sp>
        <p:nvSpPr>
          <p:cNvPr id="22" name="Shape 17"/>
          <p:cNvSpPr/>
          <p:nvPr/>
        </p:nvSpPr>
        <p:spPr>
          <a:xfrm>
            <a:off x="4709160" y="260604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23" name="Image 3" descr="preencoded.png"/>
          <p:cNvPicPr>
            <a:picLocks noChangeAspect="1"/>
          </p:cNvPicPr>
          <p:nvPr/>
        </p:nvPicPr>
        <p:blipFill>
          <a:blip r:embed="rId6"/>
          <a:stretch>
            <a:fillRect/>
          </a:stretch>
        </p:blipFill>
        <p:spPr>
          <a:xfrm>
            <a:off x="4818888" y="2697480"/>
            <a:ext cx="365760" cy="365760"/>
          </a:xfrm>
          <a:prstGeom prst="rect">
            <a:avLst/>
          </a:prstGeom>
        </p:spPr>
      </p:pic>
      <p:sp>
        <p:nvSpPr>
          <p:cNvPr id="24" name="Text 18"/>
          <p:cNvSpPr/>
          <p:nvPr/>
        </p:nvSpPr>
        <p:spPr>
          <a:xfrm>
            <a:off x="5257800" y="269748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a:ea typeface="Cambria"/>
                <a:cs typeface="Cambria" pitchFamily="34" charset="-120"/>
              </a:rPr>
              <a:t>Camera Not Recognized</a:t>
            </a:r>
            <a:endParaRPr lang="en-US" sz="1200"/>
          </a:p>
        </p:txBody>
      </p:sp>
      <p:sp>
        <p:nvSpPr>
          <p:cNvPr id="25" name="Text 19"/>
          <p:cNvSpPr/>
          <p:nvPr/>
        </p:nvSpPr>
        <p:spPr>
          <a:xfrm>
            <a:off x="4818888" y="3081528"/>
            <a:ext cx="3063240" cy="54864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The camera needed a low-level system config file edit to activate its driver. One line of configuration, hours to diagnose.</a:t>
            </a:r>
            <a:endParaRPr lang="en-US" sz="1050"/>
          </a:p>
        </p:txBody>
      </p:sp>
      <p:sp>
        <p:nvSpPr>
          <p:cNvPr id="26" name="Shape 20"/>
          <p:cNvSpPr/>
          <p:nvPr/>
        </p:nvSpPr>
        <p:spPr>
          <a:xfrm>
            <a:off x="7909560" y="2697480"/>
            <a:ext cx="850392" cy="256032"/>
          </a:xfrm>
          <a:prstGeom prst="roundRect">
            <a:avLst>
              <a:gd name="adj" fmla="val 21429"/>
            </a:avLst>
          </a:prstGeom>
          <a:solidFill>
            <a:srgbClr val="40916C">
              <a:alpha val="80000"/>
            </a:srgbClr>
          </a:solidFill>
          <a:ln w="12700">
            <a:solidFill>
              <a:srgbClr val="40916C"/>
            </a:solidFill>
            <a:prstDash val="solid"/>
          </a:ln>
        </p:spPr>
      </p:sp>
      <p:sp>
        <p:nvSpPr>
          <p:cNvPr id="27" name="Text 21"/>
          <p:cNvSpPr/>
          <p:nvPr/>
        </p:nvSpPr>
        <p:spPr>
          <a:xfrm>
            <a:off x="7909560" y="269748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Resolved</a:t>
            </a:r>
            <a:endParaRPr lang="en-US" sz="850"/>
          </a:p>
        </p:txBody>
      </p:sp>
      <p:sp>
        <p:nvSpPr>
          <p:cNvPr id="28" name="Shape 22"/>
          <p:cNvSpPr/>
          <p:nvPr/>
        </p:nvSpPr>
        <p:spPr>
          <a:xfrm>
            <a:off x="274320" y="384048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29" name="Image 4" descr="preencoded.png"/>
          <p:cNvPicPr>
            <a:picLocks noChangeAspect="1"/>
          </p:cNvPicPr>
          <p:nvPr/>
        </p:nvPicPr>
        <p:blipFill>
          <a:blip r:embed="rId7"/>
          <a:stretch>
            <a:fillRect/>
          </a:stretch>
        </p:blipFill>
        <p:spPr>
          <a:xfrm>
            <a:off x="384048" y="3931920"/>
            <a:ext cx="365760" cy="365760"/>
          </a:xfrm>
          <a:prstGeom prst="rect">
            <a:avLst/>
          </a:prstGeom>
        </p:spPr>
      </p:pic>
      <p:sp>
        <p:nvSpPr>
          <p:cNvPr id="30" name="Text 23"/>
          <p:cNvSpPr/>
          <p:nvPr/>
        </p:nvSpPr>
        <p:spPr>
          <a:xfrm>
            <a:off x="822960" y="393192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pitchFamily="34" charset="0"/>
                <a:ea typeface="Cambria" pitchFamily="34" charset="-122"/>
                <a:cs typeface="Cambria" pitchFamily="34" charset="-120"/>
              </a:rPr>
              <a:t>Arm Went Haywire</a:t>
            </a:r>
            <a:endParaRPr lang="en-US" sz="1200"/>
          </a:p>
        </p:txBody>
      </p:sp>
      <p:sp>
        <p:nvSpPr>
          <p:cNvPr id="31" name="Text 24"/>
          <p:cNvSpPr/>
          <p:nvPr/>
        </p:nvSpPr>
        <p:spPr>
          <a:xfrm>
            <a:off x="384048" y="4315968"/>
            <a:ext cx="3063240" cy="54864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The servo arm calibration values were wrong post-assembly — it spun aggressively and tangled its own cables. We recalibrated all positions.</a:t>
            </a:r>
            <a:endParaRPr lang="en-US" sz="1050"/>
          </a:p>
        </p:txBody>
      </p:sp>
      <p:sp>
        <p:nvSpPr>
          <p:cNvPr id="32" name="Shape 25"/>
          <p:cNvSpPr/>
          <p:nvPr/>
        </p:nvSpPr>
        <p:spPr>
          <a:xfrm>
            <a:off x="3474720" y="3931920"/>
            <a:ext cx="850392" cy="256032"/>
          </a:xfrm>
          <a:prstGeom prst="roundRect">
            <a:avLst>
              <a:gd name="adj" fmla="val 21429"/>
            </a:avLst>
          </a:prstGeom>
          <a:solidFill>
            <a:srgbClr val="40916C">
              <a:alpha val="80000"/>
            </a:srgbClr>
          </a:solidFill>
          <a:ln w="12700">
            <a:solidFill>
              <a:srgbClr val="40916C"/>
            </a:solidFill>
            <a:prstDash val="solid"/>
          </a:ln>
        </p:spPr>
      </p:sp>
      <p:sp>
        <p:nvSpPr>
          <p:cNvPr id="33" name="Text 26"/>
          <p:cNvSpPr/>
          <p:nvPr/>
        </p:nvSpPr>
        <p:spPr>
          <a:xfrm>
            <a:off x="3474720" y="393192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Resolved</a:t>
            </a:r>
            <a:endParaRPr lang="en-US" sz="850"/>
          </a:p>
        </p:txBody>
      </p:sp>
      <p:sp>
        <p:nvSpPr>
          <p:cNvPr id="34" name="Shape 27"/>
          <p:cNvSpPr/>
          <p:nvPr/>
        </p:nvSpPr>
        <p:spPr>
          <a:xfrm>
            <a:off x="4709160" y="3840480"/>
            <a:ext cx="4160520" cy="1097280"/>
          </a:xfrm>
          <a:prstGeom prst="roundRect">
            <a:avLst>
              <a:gd name="adj" fmla="val 8333"/>
            </a:avLst>
          </a:prstGeom>
          <a:solidFill>
            <a:srgbClr val="FFFFFF"/>
          </a:solidFill>
          <a:ln w="12700">
            <a:solidFill>
              <a:srgbClr val="D0D0D0"/>
            </a:solidFill>
            <a:prstDash val="solid"/>
          </a:ln>
          <a:effectLst>
            <a:outerShdw blurRad="101600" dist="38100" dir="2700000" algn="bl" rotWithShape="0">
              <a:srgbClr val="000000">
                <a:alpha val="18000"/>
              </a:srgbClr>
            </a:outerShdw>
          </a:effectLst>
        </p:spPr>
      </p:sp>
      <p:pic>
        <p:nvPicPr>
          <p:cNvPr id="35" name="Image 5" descr="preencoded.png"/>
          <p:cNvPicPr>
            <a:picLocks noChangeAspect="1"/>
          </p:cNvPicPr>
          <p:nvPr/>
        </p:nvPicPr>
        <p:blipFill>
          <a:blip r:embed="rId8"/>
          <a:stretch>
            <a:fillRect/>
          </a:stretch>
        </p:blipFill>
        <p:spPr>
          <a:xfrm>
            <a:off x="4818888" y="3931920"/>
            <a:ext cx="365760" cy="365760"/>
          </a:xfrm>
          <a:prstGeom prst="rect">
            <a:avLst/>
          </a:prstGeom>
        </p:spPr>
      </p:pic>
      <p:sp>
        <p:nvSpPr>
          <p:cNvPr id="36" name="Text 28"/>
          <p:cNvSpPr/>
          <p:nvPr/>
        </p:nvSpPr>
        <p:spPr>
          <a:xfrm>
            <a:off x="5257800" y="3931920"/>
            <a:ext cx="2651760" cy="347472"/>
          </a:xfrm>
          <a:prstGeom prst="rect">
            <a:avLst/>
          </a:prstGeom>
          <a:noFill/>
          <a:ln/>
        </p:spPr>
        <p:txBody>
          <a:bodyPr wrap="square" lIns="0" tIns="0" rIns="0" bIns="0" rtlCol="0" anchor="ctr"/>
          <a:lstStyle/>
          <a:p>
            <a:pPr marL="0" indent="0">
              <a:buNone/>
            </a:pPr>
            <a:r>
              <a:rPr lang="en-US" sz="1200" b="1">
                <a:solidFill>
                  <a:srgbClr val="0D1B2A"/>
                </a:solidFill>
                <a:latin typeface="Cambria" pitchFamily="34" charset="0"/>
                <a:ea typeface="Cambria" pitchFamily="34" charset="-122"/>
                <a:cs typeface="Cambria" pitchFamily="34" charset="-120"/>
              </a:rPr>
              <a:t>Motors Wouldn't Move</a:t>
            </a:r>
            <a:endParaRPr lang="en-US" sz="1200"/>
          </a:p>
        </p:txBody>
      </p:sp>
      <p:sp>
        <p:nvSpPr>
          <p:cNvPr id="37" name="Text 29"/>
          <p:cNvSpPr/>
          <p:nvPr/>
        </p:nvSpPr>
        <p:spPr>
          <a:xfrm>
            <a:off x="4818888" y="4315968"/>
            <a:ext cx="3063240" cy="548640"/>
          </a:xfrm>
          <a:prstGeom prst="rect">
            <a:avLst/>
          </a:prstGeom>
          <a:noFill/>
          <a:ln/>
        </p:spPr>
        <p:txBody>
          <a:bodyPr wrap="square" lIns="0" tIns="0" rIns="0" bIns="0" rtlCol="0" anchor="ctr"/>
          <a:lstStyle/>
          <a:p>
            <a:r>
              <a:rPr lang="en-US" sz="1050">
                <a:solidFill>
                  <a:srgbClr val="2D3748"/>
                </a:solidFill>
                <a:latin typeface="Calibri"/>
                <a:ea typeface="Calibri"/>
                <a:cs typeface="Calibri"/>
              </a:rPr>
              <a:t>Despite sending correct commands and finding two software bugs, the tank motors still won't respond. Root cause is under investigation.</a:t>
            </a:r>
            <a:endParaRPr lang="en-US" sz="1050">
              <a:latin typeface="Calibri"/>
              <a:ea typeface="Calibri"/>
              <a:cs typeface="Calibri"/>
            </a:endParaRPr>
          </a:p>
        </p:txBody>
      </p:sp>
      <p:sp>
        <p:nvSpPr>
          <p:cNvPr id="38" name="Shape 30"/>
          <p:cNvSpPr/>
          <p:nvPr/>
        </p:nvSpPr>
        <p:spPr>
          <a:xfrm>
            <a:off x="7909560" y="3931920"/>
            <a:ext cx="850392" cy="256032"/>
          </a:xfrm>
          <a:prstGeom prst="roundRect">
            <a:avLst>
              <a:gd name="adj" fmla="val 21429"/>
            </a:avLst>
          </a:prstGeom>
          <a:solidFill>
            <a:srgbClr val="F4A261">
              <a:alpha val="80000"/>
            </a:srgbClr>
          </a:solidFill>
          <a:ln w="12700">
            <a:solidFill>
              <a:srgbClr val="F4A261"/>
            </a:solidFill>
            <a:prstDash val="solid"/>
          </a:ln>
        </p:spPr>
      </p:sp>
      <p:sp>
        <p:nvSpPr>
          <p:cNvPr id="39" name="Text 31"/>
          <p:cNvSpPr/>
          <p:nvPr/>
        </p:nvSpPr>
        <p:spPr>
          <a:xfrm>
            <a:off x="7909560" y="3931920"/>
            <a:ext cx="850392"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 In Progress</a:t>
            </a:r>
            <a:endParaRPr lang="en-US" sz="8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400" b="1">
                <a:solidFill>
                  <a:srgbClr val="0D1B2A"/>
                </a:solidFill>
                <a:latin typeface="Cambria" pitchFamily="34" charset="0"/>
                <a:ea typeface="Cambria" pitchFamily="34" charset="-122"/>
                <a:cs typeface="Cambria" pitchFamily="34" charset="-120"/>
              </a:rPr>
              <a:t>What We Achieved — At a Glance</a:t>
            </a:r>
            <a:endParaRPr lang="en-US" sz="3400"/>
          </a:p>
        </p:txBody>
      </p:sp>
      <p:sp>
        <p:nvSpPr>
          <p:cNvPr id="3" name="Shape 1"/>
          <p:cNvSpPr/>
          <p:nvPr/>
        </p:nvSpPr>
        <p:spPr>
          <a:xfrm>
            <a:off x="274320" y="822960"/>
            <a:ext cx="2011680" cy="1371600"/>
          </a:xfrm>
          <a:prstGeom prst="roundRect">
            <a:avLst>
              <a:gd name="adj" fmla="val 8000"/>
            </a:avLst>
          </a:prstGeom>
          <a:solidFill>
            <a:srgbClr val="005F73"/>
          </a:solidFill>
          <a:ln w="12700">
            <a:solidFill>
              <a:srgbClr val="005F73"/>
            </a:solidFill>
            <a:prstDash val="solid"/>
          </a:ln>
          <a:effectLst>
            <a:outerShdw blurRad="101600" dist="38100" dir="2700000" algn="bl" rotWithShape="0">
              <a:srgbClr val="000000">
                <a:alpha val="18000"/>
              </a:srgbClr>
            </a:outerShdw>
          </a:effectLst>
        </p:spPr>
      </p:sp>
      <p:sp>
        <p:nvSpPr>
          <p:cNvPr id="4" name="Text 2"/>
          <p:cNvSpPr/>
          <p:nvPr/>
        </p:nvSpPr>
        <p:spPr>
          <a:xfrm>
            <a:off x="320040" y="886968"/>
            <a:ext cx="1920240" cy="685800"/>
          </a:xfrm>
          <a:prstGeom prst="rect">
            <a:avLst/>
          </a:prstGeom>
          <a:noFill/>
          <a:ln/>
        </p:spPr>
        <p:txBody>
          <a:bodyPr wrap="square" lIns="0" tIns="0" rIns="0" bIns="0" rtlCol="0" anchor="ctr"/>
          <a:lstStyle/>
          <a:p>
            <a:pPr marL="0" indent="0" algn="ctr">
              <a:buNone/>
            </a:pPr>
            <a:r>
              <a:rPr lang="en-US" sz="3600" b="1">
                <a:solidFill>
                  <a:srgbClr val="FFFFFF"/>
                </a:solidFill>
                <a:latin typeface="Cambria" pitchFamily="34" charset="0"/>
                <a:ea typeface="Cambria" pitchFamily="34" charset="-122"/>
                <a:cs typeface="Cambria" pitchFamily="34" charset="-120"/>
              </a:rPr>
              <a:t>5 of 6</a:t>
            </a:r>
            <a:endParaRPr lang="en-US" sz="3600"/>
          </a:p>
        </p:txBody>
      </p:sp>
      <p:sp>
        <p:nvSpPr>
          <p:cNvPr id="5" name="Text 3"/>
          <p:cNvSpPr/>
          <p:nvPr/>
        </p:nvSpPr>
        <p:spPr>
          <a:xfrm>
            <a:off x="320040" y="1554480"/>
            <a:ext cx="1920240" cy="548640"/>
          </a:xfrm>
          <a:prstGeom prst="rect">
            <a:avLst/>
          </a:prstGeom>
          <a:noFill/>
          <a:ln/>
        </p:spPr>
        <p:txBody>
          <a:bodyPr wrap="square" lIns="0" tIns="0" rIns="0" bIns="0" rtlCol="0" anchor="ctr"/>
          <a:lstStyle/>
          <a:p>
            <a:pPr marL="0" indent="0" algn="ctr">
              <a:buNone/>
            </a:pPr>
            <a:r>
              <a:rPr lang="en-US" sz="1100">
                <a:solidFill>
                  <a:srgbClr val="94D2BD"/>
                </a:solidFill>
                <a:latin typeface="Calibri" pitchFamily="34" charset="0"/>
                <a:ea typeface="Calibri" pitchFamily="34" charset="-122"/>
                <a:cs typeface="Calibri" pitchFamily="34" charset="-120"/>
              </a:rPr>
              <a:t>Hardware Issues</a:t>
            </a:r>
            <a:endParaRPr lang="en-US" sz="1100"/>
          </a:p>
          <a:p>
            <a:pPr marL="0" indent="0" algn="ctr">
              <a:buNone/>
            </a:pPr>
            <a:r>
              <a:rPr lang="en-US" sz="1100">
                <a:solidFill>
                  <a:srgbClr val="94D2BD"/>
                </a:solidFill>
                <a:latin typeface="Calibri" pitchFamily="34" charset="0"/>
                <a:ea typeface="Calibri" pitchFamily="34" charset="-122"/>
                <a:cs typeface="Calibri" pitchFamily="34" charset="-120"/>
              </a:rPr>
              <a:t>Resolved</a:t>
            </a:r>
            <a:endParaRPr lang="en-US" sz="1100"/>
          </a:p>
        </p:txBody>
      </p:sp>
      <p:sp>
        <p:nvSpPr>
          <p:cNvPr id="6" name="Shape 4"/>
          <p:cNvSpPr/>
          <p:nvPr/>
        </p:nvSpPr>
        <p:spPr>
          <a:xfrm>
            <a:off x="2560320" y="822960"/>
            <a:ext cx="2011680" cy="1371600"/>
          </a:xfrm>
          <a:prstGeom prst="roundRect">
            <a:avLst>
              <a:gd name="adj" fmla="val 8000"/>
            </a:avLst>
          </a:prstGeom>
          <a:solidFill>
            <a:srgbClr val="005F73"/>
          </a:solidFill>
          <a:ln w="12700">
            <a:solidFill>
              <a:srgbClr val="005F73"/>
            </a:solidFill>
            <a:prstDash val="solid"/>
          </a:ln>
          <a:effectLst>
            <a:outerShdw blurRad="101600" dist="38100" dir="2700000" algn="bl" rotWithShape="0">
              <a:srgbClr val="000000">
                <a:alpha val="18000"/>
              </a:srgbClr>
            </a:outerShdw>
          </a:effectLst>
        </p:spPr>
      </p:sp>
      <p:sp>
        <p:nvSpPr>
          <p:cNvPr id="7" name="Text 5"/>
          <p:cNvSpPr/>
          <p:nvPr/>
        </p:nvSpPr>
        <p:spPr>
          <a:xfrm>
            <a:off x="2606040" y="886968"/>
            <a:ext cx="1920240" cy="685800"/>
          </a:xfrm>
          <a:prstGeom prst="rect">
            <a:avLst/>
          </a:prstGeom>
          <a:noFill/>
          <a:ln/>
        </p:spPr>
        <p:txBody>
          <a:bodyPr wrap="square" lIns="0" tIns="0" rIns="0" bIns="0" rtlCol="0" anchor="ctr"/>
          <a:lstStyle/>
          <a:p>
            <a:pPr marL="0" indent="0" algn="ctr">
              <a:buNone/>
            </a:pPr>
            <a:r>
              <a:rPr lang="en-US" sz="3600" b="1">
                <a:solidFill>
                  <a:srgbClr val="FFFFFF"/>
                </a:solidFill>
                <a:latin typeface="Cambria" pitchFamily="34" charset="0"/>
                <a:ea typeface="Cambria" pitchFamily="34" charset="-122"/>
                <a:cs typeface="Cambria" pitchFamily="34" charset="-120"/>
              </a:rPr>
              <a:t>5+</a:t>
            </a:r>
            <a:endParaRPr lang="en-US" sz="3600"/>
          </a:p>
        </p:txBody>
      </p:sp>
      <p:sp>
        <p:nvSpPr>
          <p:cNvPr id="8" name="Text 6"/>
          <p:cNvSpPr/>
          <p:nvPr/>
        </p:nvSpPr>
        <p:spPr>
          <a:xfrm>
            <a:off x="2606040" y="1554480"/>
            <a:ext cx="1920240" cy="548640"/>
          </a:xfrm>
          <a:prstGeom prst="rect">
            <a:avLst/>
          </a:prstGeom>
          <a:noFill/>
          <a:ln/>
        </p:spPr>
        <p:txBody>
          <a:bodyPr wrap="square" lIns="0" tIns="0" rIns="0" bIns="0" rtlCol="0" anchor="ctr"/>
          <a:lstStyle/>
          <a:p>
            <a:pPr marL="0" indent="0" algn="ctr">
              <a:buNone/>
            </a:pPr>
            <a:r>
              <a:rPr lang="en-US" sz="1100">
                <a:solidFill>
                  <a:srgbClr val="94D2BD"/>
                </a:solidFill>
                <a:latin typeface="Calibri" pitchFamily="34" charset="0"/>
                <a:ea typeface="Calibri" pitchFamily="34" charset="-122"/>
                <a:cs typeface="Calibri" pitchFamily="34" charset="-120"/>
              </a:rPr>
              <a:t>OS Images</a:t>
            </a:r>
            <a:endParaRPr lang="en-US" sz="1100"/>
          </a:p>
          <a:p>
            <a:pPr marL="0" indent="0" algn="ctr">
              <a:buNone/>
            </a:pPr>
            <a:r>
              <a:rPr lang="en-US" sz="1100">
                <a:solidFill>
                  <a:srgbClr val="94D2BD"/>
                </a:solidFill>
                <a:latin typeface="Calibri" pitchFamily="34" charset="0"/>
                <a:ea typeface="Calibri" pitchFamily="34" charset="-122"/>
                <a:cs typeface="Calibri" pitchFamily="34" charset="-120"/>
              </a:rPr>
              <a:t>Tried</a:t>
            </a:r>
            <a:endParaRPr lang="en-US" sz="1100"/>
          </a:p>
        </p:txBody>
      </p:sp>
      <p:sp>
        <p:nvSpPr>
          <p:cNvPr id="9" name="Shape 7"/>
          <p:cNvSpPr/>
          <p:nvPr/>
        </p:nvSpPr>
        <p:spPr>
          <a:xfrm>
            <a:off x="4846320" y="822960"/>
            <a:ext cx="2011680" cy="1371600"/>
          </a:xfrm>
          <a:prstGeom prst="roundRect">
            <a:avLst>
              <a:gd name="adj" fmla="val 8000"/>
            </a:avLst>
          </a:prstGeom>
          <a:solidFill>
            <a:srgbClr val="005F73"/>
          </a:solidFill>
          <a:ln w="12700">
            <a:solidFill>
              <a:srgbClr val="005F73"/>
            </a:solidFill>
            <a:prstDash val="solid"/>
          </a:ln>
          <a:effectLst>
            <a:outerShdw blurRad="101600" dist="38100" dir="2700000" algn="bl" rotWithShape="0">
              <a:srgbClr val="000000">
                <a:alpha val="18000"/>
              </a:srgbClr>
            </a:outerShdw>
          </a:effectLst>
        </p:spPr>
      </p:sp>
      <p:sp>
        <p:nvSpPr>
          <p:cNvPr id="10" name="Text 8"/>
          <p:cNvSpPr/>
          <p:nvPr/>
        </p:nvSpPr>
        <p:spPr>
          <a:xfrm>
            <a:off x="4892040" y="886968"/>
            <a:ext cx="1920240" cy="685800"/>
          </a:xfrm>
          <a:prstGeom prst="rect">
            <a:avLst/>
          </a:prstGeom>
          <a:noFill/>
          <a:ln/>
        </p:spPr>
        <p:txBody>
          <a:bodyPr wrap="square" lIns="0" tIns="0" rIns="0" bIns="0" rtlCol="0" anchor="ctr"/>
          <a:lstStyle/>
          <a:p>
            <a:pPr marL="0" indent="0" algn="ctr">
              <a:buNone/>
            </a:pPr>
            <a:r>
              <a:rPr lang="en-US" sz="3600" b="1">
                <a:solidFill>
                  <a:srgbClr val="FFFFFF"/>
                </a:solidFill>
                <a:latin typeface="Cambria" pitchFamily="34" charset="0"/>
                <a:ea typeface="Cambria" pitchFamily="34" charset="-122"/>
                <a:cs typeface="Cambria" pitchFamily="34" charset="-120"/>
              </a:rPr>
              <a:t>10+</a:t>
            </a:r>
            <a:endParaRPr lang="en-US" sz="3600"/>
          </a:p>
        </p:txBody>
      </p:sp>
      <p:sp>
        <p:nvSpPr>
          <p:cNvPr id="11" name="Text 9"/>
          <p:cNvSpPr/>
          <p:nvPr/>
        </p:nvSpPr>
        <p:spPr>
          <a:xfrm>
            <a:off x="4892040" y="1554480"/>
            <a:ext cx="1920240" cy="548640"/>
          </a:xfrm>
          <a:prstGeom prst="rect">
            <a:avLst/>
          </a:prstGeom>
          <a:noFill/>
          <a:ln/>
        </p:spPr>
        <p:txBody>
          <a:bodyPr wrap="square" lIns="0" tIns="0" rIns="0" bIns="0" rtlCol="0" anchor="ctr"/>
          <a:lstStyle/>
          <a:p>
            <a:pPr marL="0" indent="0" algn="ctr">
              <a:buNone/>
            </a:pPr>
            <a:r>
              <a:rPr lang="en-US" sz="1100">
                <a:solidFill>
                  <a:srgbClr val="94D2BD"/>
                </a:solidFill>
                <a:latin typeface="Calibri" pitchFamily="34" charset="0"/>
                <a:ea typeface="Calibri" pitchFamily="34" charset="-122"/>
                <a:cs typeface="Calibri" pitchFamily="34" charset="-120"/>
              </a:rPr>
              <a:t>Bug Fixes</a:t>
            </a:r>
            <a:endParaRPr lang="en-US" sz="1100"/>
          </a:p>
          <a:p>
            <a:pPr marL="0" indent="0" algn="ctr">
              <a:buNone/>
            </a:pPr>
            <a:r>
              <a:rPr lang="en-US" sz="1100">
                <a:solidFill>
                  <a:srgbClr val="94D2BD"/>
                </a:solidFill>
                <a:latin typeface="Calibri" pitchFamily="34" charset="0"/>
                <a:ea typeface="Calibri" pitchFamily="34" charset="-122"/>
                <a:cs typeface="Calibri" pitchFamily="34" charset="-120"/>
              </a:rPr>
              <a:t>Applied</a:t>
            </a:r>
            <a:endParaRPr lang="en-US" sz="1100"/>
          </a:p>
        </p:txBody>
      </p:sp>
      <p:graphicFrame>
        <p:nvGraphicFramePr>
          <p:cNvPr id="12" name="Chart 0"/>
          <p:cNvGraphicFramePr/>
          <p:nvPr/>
        </p:nvGraphicFramePr>
        <p:xfrm>
          <a:off x="274320" y="2331720"/>
          <a:ext cx="8595360" cy="25603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From the Lab — Our Robot in Action</a:t>
            </a:r>
            <a:endParaRPr lang="en-US" sz="3000"/>
          </a:p>
        </p:txBody>
      </p:sp>
      <p:sp>
        <p:nvSpPr>
          <p:cNvPr id="3" name="Shape 1"/>
          <p:cNvSpPr/>
          <p:nvPr/>
        </p:nvSpPr>
        <p:spPr>
          <a:xfrm>
            <a:off x="137160" y="731520"/>
            <a:ext cx="4343400" cy="2331720"/>
          </a:xfrm>
          <a:prstGeom prst="roundRect">
            <a:avLst>
              <a:gd name="adj" fmla="val 3922"/>
            </a:avLst>
          </a:prstGeom>
          <a:solidFill>
            <a:srgbClr val="2D3748"/>
          </a:solidFill>
          <a:ln w="19050">
            <a:solidFill>
              <a:srgbClr val="0A9396"/>
            </a:solidFill>
            <a:prstDash val="solid"/>
          </a:ln>
          <a:effectLst>
            <a:outerShdw blurRad="101600" dist="38100" dir="2700000" algn="bl" rotWithShape="0">
              <a:srgbClr val="000000">
                <a:alpha val="18000"/>
              </a:srgbClr>
            </a:outerShdw>
          </a:effectLst>
        </p:spPr>
      </p:sp>
      <p:pic>
        <p:nvPicPr>
          <p:cNvPr id="4" name="Image 0" descr="preencoded.png"/>
          <p:cNvPicPr>
            <a:picLocks noChangeAspect="1"/>
          </p:cNvPicPr>
          <p:nvPr/>
        </p:nvPicPr>
        <p:blipFill>
          <a:blip r:embed="rId3"/>
          <a:srcRect/>
          <a:stretch/>
        </p:blipFill>
        <p:spPr>
          <a:xfrm>
            <a:off x="182880" y="777240"/>
            <a:ext cx="4251960" cy="1920240"/>
          </a:xfrm>
          <a:prstGeom prst="rect">
            <a:avLst/>
          </a:prstGeom>
        </p:spPr>
      </p:pic>
      <p:sp>
        <p:nvSpPr>
          <p:cNvPr id="5" name="Text 2"/>
          <p:cNvSpPr/>
          <p:nvPr/>
        </p:nvSpPr>
        <p:spPr>
          <a:xfrm>
            <a:off x="182880" y="2715768"/>
            <a:ext cx="4251960" cy="292608"/>
          </a:xfrm>
          <a:prstGeom prst="rect">
            <a:avLst/>
          </a:prstGeom>
          <a:noFill/>
          <a:ln/>
        </p:spPr>
        <p:txBody>
          <a:bodyPr wrap="square" lIns="0" tIns="0" rIns="0" bIns="0" rtlCol="0" anchor="ctr"/>
          <a:lstStyle/>
          <a:p>
            <a:pPr marL="0" indent="0" algn="ctr">
              <a:buNone/>
            </a:pPr>
            <a:r>
              <a:rPr lang="en-US" sz="1050" i="1">
                <a:solidFill>
                  <a:srgbClr val="94D2BD"/>
                </a:solidFill>
                <a:latin typeface="Calibri" pitchFamily="34" charset="0"/>
                <a:ea typeface="Calibri" pitchFamily="34" charset="-122"/>
                <a:cs typeface="Calibri" pitchFamily="34" charset="-120"/>
              </a:rPr>
              <a:t>Fully assembled JETANK</a:t>
            </a:r>
            <a:endParaRPr lang="en-US" sz="1050"/>
          </a:p>
        </p:txBody>
      </p:sp>
      <p:sp>
        <p:nvSpPr>
          <p:cNvPr id="6" name="Shape 3"/>
          <p:cNvSpPr/>
          <p:nvPr/>
        </p:nvSpPr>
        <p:spPr>
          <a:xfrm>
            <a:off x="4617720" y="731520"/>
            <a:ext cx="4343400" cy="2331720"/>
          </a:xfrm>
          <a:prstGeom prst="roundRect">
            <a:avLst>
              <a:gd name="adj" fmla="val 3922"/>
            </a:avLst>
          </a:prstGeom>
          <a:solidFill>
            <a:srgbClr val="2D3748"/>
          </a:solidFill>
          <a:ln w="19050">
            <a:solidFill>
              <a:srgbClr val="0A9396"/>
            </a:solidFill>
            <a:prstDash val="solid"/>
          </a:ln>
          <a:effectLst>
            <a:outerShdw blurRad="101600" dist="38100" dir="2700000" algn="bl" rotWithShape="0">
              <a:srgbClr val="000000">
                <a:alpha val="18000"/>
              </a:srgbClr>
            </a:outerShdw>
          </a:effectLst>
        </p:spPr>
      </p:sp>
      <p:sp>
        <p:nvSpPr>
          <p:cNvPr id="8" name="Text 4"/>
          <p:cNvSpPr/>
          <p:nvPr/>
        </p:nvSpPr>
        <p:spPr>
          <a:xfrm>
            <a:off x="4663440" y="2715768"/>
            <a:ext cx="4251960" cy="292608"/>
          </a:xfrm>
          <a:prstGeom prst="rect">
            <a:avLst/>
          </a:prstGeom>
          <a:noFill/>
          <a:ln/>
        </p:spPr>
        <p:txBody>
          <a:bodyPr wrap="square" lIns="0" tIns="0" rIns="0" bIns="0" rtlCol="0" anchor="ctr"/>
          <a:lstStyle/>
          <a:p>
            <a:pPr marL="0" indent="0" algn="ctr">
              <a:buNone/>
            </a:pPr>
            <a:r>
              <a:rPr lang="en-US" sz="1050" i="1">
                <a:solidFill>
                  <a:srgbClr val="94D2BD"/>
                </a:solidFill>
                <a:latin typeface="Calibri" pitchFamily="34" charset="0"/>
                <a:ea typeface="Calibri" pitchFamily="34" charset="-122"/>
                <a:cs typeface="Calibri" pitchFamily="34" charset="-120"/>
              </a:rPr>
              <a:t>Jetson Orin Nano Super module</a:t>
            </a:r>
            <a:endParaRPr lang="en-US" sz="1050"/>
          </a:p>
        </p:txBody>
      </p:sp>
      <p:sp>
        <p:nvSpPr>
          <p:cNvPr id="9" name="Shape 5"/>
          <p:cNvSpPr/>
          <p:nvPr/>
        </p:nvSpPr>
        <p:spPr>
          <a:xfrm>
            <a:off x="137160" y="2697480"/>
            <a:ext cx="4343400" cy="2331720"/>
          </a:xfrm>
          <a:prstGeom prst="roundRect">
            <a:avLst>
              <a:gd name="adj" fmla="val 3922"/>
            </a:avLst>
          </a:prstGeom>
          <a:solidFill>
            <a:srgbClr val="2D3748"/>
          </a:solidFill>
          <a:ln w="19050">
            <a:solidFill>
              <a:srgbClr val="0A9396"/>
            </a:solidFill>
            <a:prstDash val="solid"/>
          </a:ln>
          <a:effectLst>
            <a:outerShdw blurRad="101600" dist="38100" dir="2700000" algn="bl" rotWithShape="0">
              <a:srgbClr val="000000">
                <a:alpha val="18000"/>
              </a:srgbClr>
            </a:outerShdw>
          </a:effectLst>
        </p:spPr>
      </p:sp>
      <p:pic>
        <p:nvPicPr>
          <p:cNvPr id="10" name="Image 2" descr="preencoded.png"/>
          <p:cNvPicPr>
            <a:picLocks noChangeAspect="1"/>
          </p:cNvPicPr>
          <p:nvPr/>
        </p:nvPicPr>
        <p:blipFill>
          <a:blip r:embed="rId4"/>
          <a:srcRect/>
          <a:stretch/>
        </p:blipFill>
        <p:spPr>
          <a:xfrm>
            <a:off x="182880" y="2743200"/>
            <a:ext cx="4251960" cy="1920240"/>
          </a:xfrm>
          <a:prstGeom prst="rect">
            <a:avLst/>
          </a:prstGeom>
        </p:spPr>
      </p:pic>
      <p:sp>
        <p:nvSpPr>
          <p:cNvPr id="11" name="Text 6"/>
          <p:cNvSpPr/>
          <p:nvPr/>
        </p:nvSpPr>
        <p:spPr>
          <a:xfrm>
            <a:off x="182880" y="4681728"/>
            <a:ext cx="4251960" cy="292608"/>
          </a:xfrm>
          <a:prstGeom prst="rect">
            <a:avLst/>
          </a:prstGeom>
          <a:noFill/>
          <a:ln/>
        </p:spPr>
        <p:txBody>
          <a:bodyPr wrap="square" lIns="0" tIns="0" rIns="0" bIns="0" rtlCol="0" anchor="ctr"/>
          <a:lstStyle/>
          <a:p>
            <a:pPr marL="0" indent="0" algn="ctr">
              <a:buNone/>
            </a:pPr>
            <a:r>
              <a:rPr lang="en-US" sz="1050" i="1">
                <a:solidFill>
                  <a:srgbClr val="94D2BD"/>
                </a:solidFill>
                <a:latin typeface="Calibri" pitchFamily="34" charset="0"/>
                <a:ea typeface="Calibri" pitchFamily="34" charset="-122"/>
                <a:cs typeface="Calibri" pitchFamily="34" charset="-120"/>
              </a:rPr>
              <a:t>Camera mount &amp; servo assembly</a:t>
            </a:r>
            <a:endParaRPr lang="en-US" sz="1050"/>
          </a:p>
        </p:txBody>
      </p:sp>
      <p:sp>
        <p:nvSpPr>
          <p:cNvPr id="12" name="Shape 7"/>
          <p:cNvSpPr/>
          <p:nvPr/>
        </p:nvSpPr>
        <p:spPr>
          <a:xfrm>
            <a:off x="4617720" y="2697480"/>
            <a:ext cx="4343400" cy="2331720"/>
          </a:xfrm>
          <a:prstGeom prst="roundRect">
            <a:avLst>
              <a:gd name="adj" fmla="val 3922"/>
            </a:avLst>
          </a:prstGeom>
          <a:solidFill>
            <a:srgbClr val="2D3748"/>
          </a:solidFill>
          <a:ln w="19050">
            <a:solidFill>
              <a:srgbClr val="0A9396"/>
            </a:solidFill>
            <a:prstDash val="solid"/>
          </a:ln>
          <a:effectLst>
            <a:outerShdw blurRad="101600" dist="38100" dir="2700000" algn="bl" rotWithShape="0">
              <a:srgbClr val="000000">
                <a:alpha val="18000"/>
              </a:srgbClr>
            </a:outerShdw>
          </a:effectLst>
        </p:spPr>
      </p:sp>
      <p:pic>
        <p:nvPicPr>
          <p:cNvPr id="13" name="Image 3" descr="preencoded.png"/>
          <p:cNvPicPr>
            <a:picLocks noChangeAspect="1"/>
          </p:cNvPicPr>
          <p:nvPr/>
        </p:nvPicPr>
        <p:blipFill>
          <a:blip r:embed="rId5"/>
          <a:srcRect/>
          <a:stretch/>
        </p:blipFill>
        <p:spPr>
          <a:xfrm>
            <a:off x="4663440" y="2743200"/>
            <a:ext cx="4251960" cy="1920240"/>
          </a:xfrm>
          <a:prstGeom prst="rect">
            <a:avLst/>
          </a:prstGeom>
        </p:spPr>
      </p:pic>
      <p:sp>
        <p:nvSpPr>
          <p:cNvPr id="14" name="Text 8"/>
          <p:cNvSpPr/>
          <p:nvPr/>
        </p:nvSpPr>
        <p:spPr>
          <a:xfrm>
            <a:off x="4663440" y="4681728"/>
            <a:ext cx="4251960" cy="292608"/>
          </a:xfrm>
          <a:prstGeom prst="rect">
            <a:avLst/>
          </a:prstGeom>
          <a:noFill/>
          <a:ln/>
        </p:spPr>
        <p:txBody>
          <a:bodyPr wrap="square" lIns="0" tIns="0" rIns="0" bIns="0" rtlCol="0" anchor="ctr"/>
          <a:lstStyle/>
          <a:p>
            <a:pPr marL="0" indent="0" algn="ctr">
              <a:buNone/>
            </a:pPr>
            <a:r>
              <a:rPr lang="en-US" sz="1050" i="1">
                <a:solidFill>
                  <a:srgbClr val="94D2BD"/>
                </a:solidFill>
                <a:latin typeface="Calibri" pitchFamily="34" charset="0"/>
                <a:ea typeface="Calibri" pitchFamily="34" charset="-122"/>
                <a:cs typeface="Calibri" pitchFamily="34" charset="-120"/>
              </a:rPr>
              <a:t>Mid-build — chassis &amp; arm separated</a:t>
            </a:r>
            <a:endParaRPr lang="en-US" sz="10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buNone/>
            </a:pPr>
            <a:r>
              <a:rPr lang="en-US" sz="3400" b="1">
                <a:solidFill>
                  <a:srgbClr val="FFFFFF"/>
                </a:solidFill>
                <a:latin typeface="Cambria" pitchFamily="34" charset="0"/>
                <a:ea typeface="Cambria" pitchFamily="34" charset="-122"/>
                <a:cs typeface="Cambria" pitchFamily="34" charset="-120"/>
              </a:rPr>
              <a:t>Conclusion &amp; What's Next</a:t>
            </a:r>
            <a:endParaRPr lang="en-US" sz="3400"/>
          </a:p>
        </p:txBody>
      </p:sp>
      <p:sp>
        <p:nvSpPr>
          <p:cNvPr id="3" name="Shape 1"/>
          <p:cNvSpPr/>
          <p:nvPr/>
        </p:nvSpPr>
        <p:spPr>
          <a:xfrm>
            <a:off x="274320" y="868680"/>
            <a:ext cx="8595360" cy="1005840"/>
          </a:xfrm>
          <a:prstGeom prst="roundRect">
            <a:avLst>
              <a:gd name="adj" fmla="val 10909"/>
            </a:avLst>
          </a:prstGeom>
          <a:solidFill>
            <a:srgbClr val="005F73">
              <a:alpha val="80000"/>
            </a:srgbClr>
          </a:solidFill>
          <a:ln w="12700">
            <a:solidFill>
              <a:srgbClr val="0A9396"/>
            </a:solidFill>
            <a:prstDash val="solid"/>
          </a:ln>
        </p:spPr>
      </p:sp>
      <p:sp>
        <p:nvSpPr>
          <p:cNvPr id="4" name="Text 2"/>
          <p:cNvSpPr/>
          <p:nvPr/>
        </p:nvSpPr>
        <p:spPr>
          <a:xfrm>
            <a:off x="457200" y="914400"/>
            <a:ext cx="8229600" cy="868680"/>
          </a:xfrm>
          <a:prstGeom prst="rect">
            <a:avLst/>
          </a:prstGeom>
          <a:noFill/>
          <a:ln/>
        </p:spPr>
        <p:txBody>
          <a:bodyPr wrap="square" lIns="0" tIns="0" rIns="0" bIns="0" rtlCol="0" anchor="ctr"/>
          <a:lstStyle/>
          <a:p>
            <a:pPr marL="0" indent="0">
              <a:buNone/>
            </a:pPr>
            <a:r>
              <a:rPr lang="en-US" sz="1250">
                <a:solidFill>
                  <a:srgbClr val="FFFFFF"/>
                </a:solidFill>
                <a:latin typeface="Calibri" pitchFamily="34" charset="0"/>
                <a:ea typeface="Calibri" pitchFamily="34" charset="-122"/>
                <a:cs typeface="Calibri" pitchFamily="34" charset="-120"/>
              </a:rPr>
              <a:t>We successfully brought an advanced AI robotics platform to life — despite navigating significant compatibility barriers that the original kit was never designed to handle. That problem-solving journey is itself a valuable engineering outcome.</a:t>
            </a:r>
            <a:endParaRPr lang="en-US" sz="1250"/>
          </a:p>
        </p:txBody>
      </p:sp>
      <p:sp>
        <p:nvSpPr>
          <p:cNvPr id="5" name="Shape 3"/>
          <p:cNvSpPr/>
          <p:nvPr/>
        </p:nvSpPr>
        <p:spPr>
          <a:xfrm>
            <a:off x="274320" y="1965960"/>
            <a:ext cx="4160520" cy="2880360"/>
          </a:xfrm>
          <a:prstGeom prst="roundRect">
            <a:avLst>
              <a:gd name="adj" fmla="val 3810"/>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pic>
        <p:nvPicPr>
          <p:cNvPr id="6" name="Image 0" descr="preencoded.png"/>
          <p:cNvPicPr>
            <a:picLocks noChangeAspect="1"/>
          </p:cNvPicPr>
          <p:nvPr/>
        </p:nvPicPr>
        <p:blipFill>
          <a:blip r:embed="rId3"/>
          <a:stretch>
            <a:fillRect/>
          </a:stretch>
        </p:blipFill>
        <p:spPr>
          <a:xfrm>
            <a:off x="411480" y="2057400"/>
            <a:ext cx="411480" cy="411480"/>
          </a:xfrm>
          <a:prstGeom prst="rect">
            <a:avLst/>
          </a:prstGeom>
        </p:spPr>
      </p:pic>
      <p:sp>
        <p:nvSpPr>
          <p:cNvPr id="7" name="Text 4"/>
          <p:cNvSpPr/>
          <p:nvPr/>
        </p:nvSpPr>
        <p:spPr>
          <a:xfrm>
            <a:off x="868680" y="2057400"/>
            <a:ext cx="3383280" cy="411480"/>
          </a:xfrm>
          <a:prstGeom prst="rect">
            <a:avLst/>
          </a:prstGeom>
          <a:noFill/>
          <a:ln/>
        </p:spPr>
        <p:txBody>
          <a:bodyPr wrap="square" lIns="0" tIns="0" rIns="0" bIns="0" rtlCol="0" anchor="ctr"/>
          <a:lstStyle/>
          <a:p>
            <a:pPr marL="0" indent="0">
              <a:buNone/>
            </a:pPr>
            <a:r>
              <a:rPr lang="en-US" sz="1500" b="1">
                <a:solidFill>
                  <a:srgbClr val="FFFFFF"/>
                </a:solidFill>
                <a:latin typeface="Cambria" pitchFamily="34" charset="0"/>
                <a:ea typeface="Cambria" pitchFamily="34" charset="-122"/>
                <a:cs typeface="Cambria" pitchFamily="34" charset="-120"/>
              </a:rPr>
              <a:t>Key Takeaways</a:t>
            </a:r>
            <a:endParaRPr lang="en-US" sz="1500"/>
          </a:p>
        </p:txBody>
      </p:sp>
      <p:sp>
        <p:nvSpPr>
          <p:cNvPr id="8" name="Text 5"/>
          <p:cNvSpPr/>
          <p:nvPr/>
        </p:nvSpPr>
        <p:spPr>
          <a:xfrm>
            <a:off x="411480" y="2560320"/>
            <a:ext cx="3886200" cy="2148840"/>
          </a:xfrm>
          <a:prstGeom prst="rect">
            <a:avLst/>
          </a:prstGeom>
          <a:noFill/>
          <a:ln/>
        </p:spPr>
        <p:txBody>
          <a:bodyPr wrap="square" lIns="0" tIns="0" rIns="0" bIns="0" rtlCol="0" anchor="ctr"/>
          <a:lstStyle/>
          <a:p>
            <a:pPr marL="342900" indent="-342900">
              <a:buSzPct val="100000"/>
              <a:buChar char="•"/>
            </a:pPr>
            <a:r>
              <a:rPr lang="en-US" sz="1150">
                <a:solidFill>
                  <a:srgbClr val="94D2BD"/>
                </a:solidFill>
                <a:latin typeface="Calibri" pitchFamily="34" charset="0"/>
                <a:ea typeface="Calibri" pitchFamily="34" charset="-122"/>
                <a:cs typeface="Calibri" pitchFamily="34" charset="-120"/>
              </a:rPr>
              <a:t>Real hardware has surprises that no manual prepares you for</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Systematic debugging is as important as writing good code</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Documentation during the project saved hours later</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A modular design (split power, separate software layers) makes problems easier to isolate</a:t>
            </a:r>
            <a:endParaRPr lang="en-US" sz="1150"/>
          </a:p>
        </p:txBody>
      </p:sp>
      <p:sp>
        <p:nvSpPr>
          <p:cNvPr id="9" name="Shape 6"/>
          <p:cNvSpPr/>
          <p:nvPr/>
        </p:nvSpPr>
        <p:spPr>
          <a:xfrm>
            <a:off x="4709160" y="1965960"/>
            <a:ext cx="4160520" cy="2880360"/>
          </a:xfrm>
          <a:prstGeom prst="roundRect">
            <a:avLst>
              <a:gd name="adj" fmla="val 3810"/>
            </a:avLst>
          </a:prstGeom>
          <a:solidFill>
            <a:srgbClr val="2D3748"/>
          </a:solidFill>
          <a:ln w="12700">
            <a:solidFill>
              <a:srgbClr val="0A9396"/>
            </a:solidFill>
            <a:prstDash val="solid"/>
          </a:ln>
          <a:effectLst>
            <a:outerShdw blurRad="101600" dist="38100" dir="2700000" algn="bl" rotWithShape="0">
              <a:srgbClr val="000000">
                <a:alpha val="18000"/>
              </a:srgbClr>
            </a:outerShdw>
          </a:effectLst>
        </p:spPr>
      </p:sp>
      <p:pic>
        <p:nvPicPr>
          <p:cNvPr id="10" name="Image 1" descr="preencoded.png"/>
          <p:cNvPicPr>
            <a:picLocks noChangeAspect="1"/>
          </p:cNvPicPr>
          <p:nvPr/>
        </p:nvPicPr>
        <p:blipFill>
          <a:blip r:embed="rId4"/>
          <a:stretch>
            <a:fillRect/>
          </a:stretch>
        </p:blipFill>
        <p:spPr>
          <a:xfrm>
            <a:off x="4846320" y="2057400"/>
            <a:ext cx="411480" cy="411480"/>
          </a:xfrm>
          <a:prstGeom prst="rect">
            <a:avLst/>
          </a:prstGeom>
        </p:spPr>
      </p:pic>
      <p:sp>
        <p:nvSpPr>
          <p:cNvPr id="11" name="Text 7"/>
          <p:cNvSpPr/>
          <p:nvPr/>
        </p:nvSpPr>
        <p:spPr>
          <a:xfrm>
            <a:off x="5303520" y="2057400"/>
            <a:ext cx="3383280" cy="411480"/>
          </a:xfrm>
          <a:prstGeom prst="rect">
            <a:avLst/>
          </a:prstGeom>
          <a:noFill/>
          <a:ln/>
        </p:spPr>
        <p:txBody>
          <a:bodyPr wrap="square" lIns="0" tIns="0" rIns="0" bIns="0" rtlCol="0" anchor="ctr"/>
          <a:lstStyle/>
          <a:p>
            <a:pPr marL="0" indent="0">
              <a:buNone/>
            </a:pPr>
            <a:r>
              <a:rPr lang="en-US" sz="1500" b="1">
                <a:solidFill>
                  <a:srgbClr val="FFFFFF"/>
                </a:solidFill>
                <a:latin typeface="Cambria" pitchFamily="34" charset="0"/>
                <a:ea typeface="Cambria" pitchFamily="34" charset="-122"/>
                <a:cs typeface="Cambria" pitchFamily="34" charset="-120"/>
              </a:rPr>
              <a:t>Future Work</a:t>
            </a:r>
            <a:endParaRPr lang="en-US" sz="1500"/>
          </a:p>
        </p:txBody>
      </p:sp>
      <p:sp>
        <p:nvSpPr>
          <p:cNvPr id="12" name="Text 8"/>
          <p:cNvSpPr/>
          <p:nvPr/>
        </p:nvSpPr>
        <p:spPr>
          <a:xfrm>
            <a:off x="4846320" y="2560320"/>
            <a:ext cx="3886200" cy="2148840"/>
          </a:xfrm>
          <a:prstGeom prst="rect">
            <a:avLst/>
          </a:prstGeom>
          <a:noFill/>
          <a:ln/>
        </p:spPr>
        <p:txBody>
          <a:bodyPr wrap="square" lIns="0" tIns="0" rIns="0" bIns="0" rtlCol="0" anchor="ctr"/>
          <a:lstStyle/>
          <a:p>
            <a:pPr marL="342900" indent="-342900">
              <a:buSzPct val="100000"/>
              <a:buChar char="•"/>
            </a:pPr>
            <a:r>
              <a:rPr lang="en-US" sz="1150">
                <a:solidFill>
                  <a:srgbClr val="94D2BD"/>
                </a:solidFill>
                <a:latin typeface="Calibri" pitchFamily="34" charset="0"/>
                <a:ea typeface="Calibri" pitchFamily="34" charset="-122"/>
                <a:cs typeface="Calibri" pitchFamily="34" charset="-120"/>
              </a:rPr>
              <a:t>Replace Jetson Nano Orin → classic Jetson Nano for full compatibility</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Resolve motor driver mystery (oscilloscope + schematic review)</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Add a second sensor (ultrasonic or lidar) for true sensor fusion</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Train a custom YOLO model on the robot's actual camera footage</a:t>
            </a:r>
            <a:endParaRPr lang="en-US" sz="1150"/>
          </a:p>
          <a:p>
            <a:pPr marL="342900" indent="-342900">
              <a:buSzPct val="100000"/>
              <a:buChar char="•"/>
            </a:pPr>
            <a:r>
              <a:rPr lang="en-US" sz="1150">
                <a:solidFill>
                  <a:srgbClr val="94D2BD"/>
                </a:solidFill>
                <a:latin typeface="Calibri" pitchFamily="34" charset="0"/>
                <a:ea typeface="Calibri" pitchFamily="34" charset="-122"/>
                <a:cs typeface="Calibri" pitchFamily="34" charset="-120"/>
              </a:rPr>
              <a:t>3D-print a power bank bracket for fully untethered operation</a:t>
            </a:r>
            <a:endParaRPr lang="en-US" sz="11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5000"/>
          </a:blip>
          <a:src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D1B2A">
              <a:alpha val="60000"/>
            </a:srgbClr>
          </a:solidFill>
          <a:ln w="12700">
            <a:solidFill>
              <a:srgbClr val="0D1B2A"/>
            </a:solidFill>
            <a:prstDash val="solid"/>
          </a:ln>
        </p:spPr>
      </p:sp>
      <p:sp>
        <p:nvSpPr>
          <p:cNvPr id="4" name="Text 1"/>
          <p:cNvSpPr/>
          <p:nvPr/>
        </p:nvSpPr>
        <p:spPr>
          <a:xfrm>
            <a:off x="457200" y="1280160"/>
            <a:ext cx="8229600" cy="1097280"/>
          </a:xfrm>
          <a:prstGeom prst="rect">
            <a:avLst/>
          </a:prstGeom>
          <a:noFill/>
          <a:ln/>
        </p:spPr>
        <p:txBody>
          <a:bodyPr wrap="square" lIns="0" tIns="0" rIns="0" bIns="0" rtlCol="0" anchor="ctr"/>
          <a:lstStyle/>
          <a:p>
            <a:pPr marL="0" indent="0" algn="ctr">
              <a:buNone/>
            </a:pPr>
            <a:r>
              <a:rPr lang="en-US" sz="5200" b="1">
                <a:solidFill>
                  <a:srgbClr val="FFFFFF"/>
                </a:solidFill>
                <a:latin typeface="Cambria" pitchFamily="34" charset="0"/>
                <a:ea typeface="Cambria" pitchFamily="34" charset="-122"/>
                <a:cs typeface="Cambria" pitchFamily="34" charset="-120"/>
              </a:rPr>
              <a:t>Thank You!</a:t>
            </a:r>
            <a:endParaRPr lang="en-US" sz="5200"/>
          </a:p>
        </p:txBody>
      </p:sp>
      <p:sp>
        <p:nvSpPr>
          <p:cNvPr id="5" name="Text 2"/>
          <p:cNvSpPr/>
          <p:nvPr/>
        </p:nvSpPr>
        <p:spPr>
          <a:xfrm>
            <a:off x="457200" y="2423160"/>
            <a:ext cx="8229600" cy="457200"/>
          </a:xfrm>
          <a:prstGeom prst="rect">
            <a:avLst/>
          </a:prstGeom>
          <a:noFill/>
          <a:ln/>
        </p:spPr>
        <p:txBody>
          <a:bodyPr wrap="square" lIns="0" tIns="0" rIns="0" bIns="0" rtlCol="0" anchor="ctr"/>
          <a:lstStyle/>
          <a:p>
            <a:pPr marL="0" indent="0" algn="ctr">
              <a:buNone/>
            </a:pPr>
            <a:r>
              <a:rPr lang="en-US" sz="1600">
                <a:solidFill>
                  <a:srgbClr val="94D2BD"/>
                </a:solidFill>
                <a:latin typeface="Calibri" pitchFamily="34" charset="0"/>
                <a:ea typeface="Calibri" pitchFamily="34" charset="-122"/>
                <a:cs typeface="Calibri" pitchFamily="34" charset="-120"/>
              </a:rPr>
              <a:t>Denis Vasilev  ·  Adam Ryan  ·  Aidan Ryan  ·  Nora Cerveny</a:t>
            </a:r>
            <a:endParaRPr lang="en-US" sz="1600"/>
          </a:p>
        </p:txBody>
      </p:sp>
      <p:sp>
        <p:nvSpPr>
          <p:cNvPr id="6" name="Text 3"/>
          <p:cNvSpPr/>
          <p:nvPr/>
        </p:nvSpPr>
        <p:spPr>
          <a:xfrm>
            <a:off x="457200" y="2926080"/>
            <a:ext cx="8229600" cy="365760"/>
          </a:xfrm>
          <a:prstGeom prst="rect">
            <a:avLst/>
          </a:prstGeom>
          <a:noFill/>
          <a:ln/>
        </p:spPr>
        <p:txBody>
          <a:bodyPr wrap="square" lIns="0" tIns="0" rIns="0" bIns="0" rtlCol="0" anchor="ctr"/>
          <a:lstStyle/>
          <a:p>
            <a:pPr marL="0" indent="0" algn="ctr">
              <a:buNone/>
            </a:pPr>
            <a:r>
              <a:rPr lang="en-US" sz="1400" i="1">
                <a:solidFill>
                  <a:srgbClr val="D0D0D0"/>
                </a:solidFill>
                <a:latin typeface="Calibri" pitchFamily="34" charset="0"/>
                <a:ea typeface="Calibri" pitchFamily="34" charset="-122"/>
                <a:cs typeface="Calibri" pitchFamily="34" charset="-120"/>
              </a:rPr>
              <a:t>IMC Krems  —  Capstone Project SS 2026</a:t>
            </a:r>
            <a:endParaRPr lang="en-US" sz="1400"/>
          </a:p>
        </p:txBody>
      </p:sp>
      <p:sp>
        <p:nvSpPr>
          <p:cNvPr id="7" name="Shape 4"/>
          <p:cNvSpPr/>
          <p:nvPr/>
        </p:nvSpPr>
        <p:spPr>
          <a:xfrm>
            <a:off x="2926080" y="3474720"/>
            <a:ext cx="3291840" cy="594360"/>
          </a:xfrm>
          <a:prstGeom prst="roundRect">
            <a:avLst>
              <a:gd name="adj" fmla="val 23077"/>
            </a:avLst>
          </a:prstGeom>
          <a:solidFill>
            <a:srgbClr val="0A9396"/>
          </a:solidFill>
          <a:ln w="12700">
            <a:solidFill>
              <a:srgbClr val="0A9396"/>
            </a:solidFill>
            <a:prstDash val="solid"/>
          </a:ln>
        </p:spPr>
      </p:sp>
      <p:sp>
        <p:nvSpPr>
          <p:cNvPr id="8" name="Text 5"/>
          <p:cNvSpPr/>
          <p:nvPr/>
        </p:nvSpPr>
        <p:spPr>
          <a:xfrm>
            <a:off x="2926080" y="3493008"/>
            <a:ext cx="3291840" cy="54864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Questions?</a:t>
            </a:r>
            <a:endParaRPr lang="en-US" sz="2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D71A6E5342B440AE3BB1EFEF99606C" ma:contentTypeVersion="3" ma:contentTypeDescription="Create a new document." ma:contentTypeScope="" ma:versionID="2951fd9ae1a61083e475c3d041d6ccae">
  <xsd:schema xmlns:xsd="http://www.w3.org/2001/XMLSchema" xmlns:xs="http://www.w3.org/2001/XMLSchema" xmlns:p="http://schemas.microsoft.com/office/2006/metadata/properties" xmlns:ns2="7e578206-cad7-48be-b078-91c239c72e37" targetNamespace="http://schemas.microsoft.com/office/2006/metadata/properties" ma:root="true" ma:fieldsID="778f3414410b6a31c54eba582b7e6c5e" ns2:_="">
    <xsd:import namespace="7e578206-cad7-48be-b078-91c239c72e3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578206-cad7-48be-b078-91c239c72e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832253-0A2E-4BDB-B3C9-B6077A73C03E}">
  <ds:schemaRefs>
    <ds:schemaRef ds:uri="7e578206-cad7-48be-b078-91c239c72e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96FA9AD-88E5-4B4E-8E2D-DD3414C6F64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553C84E-211C-4E60-B221-7717457935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2026-06-24T09:50:32Z</dcterms:created>
  <dcterms:modified xsi:type="dcterms:W3CDTF">2026-06-24T10:18:45Z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0x01010054D71A6E5342B440AE3BB1EFEF99606C</vt:lpwstr>
  </property>
</Properties>
</file>