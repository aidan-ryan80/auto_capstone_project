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OS &amp; Boot</c:v>
                  </c:pt>
                  <c:pt idx="1">
                    <c:v>WiFi</c:v>
                  </c:pt>
                  <c:pt idx="2">
                    <c:v>Power System</c:v>
                  </c:pt>
                  <c:pt idx="3">
                    <c:v>Camera</c:v>
                  </c:pt>
                  <c:pt idx="4">
                    <c:v>OLED Display</c:v>
                  </c:pt>
                  <c:pt idx="5">
                    <c:v>Servo Arm</c:v>
                  </c:pt>
                  <c:pt idx="6">
                    <c:v>Drive Motors</c:v>
                  </c:pt>
                  <c:pt idx="7">
                    <c:v>AI Pipeline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85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20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5" Type="http://schemas.openxmlformats.org/officeDocument/2006/relationships/chart" Target="/ppt/charts/chart1.xml"/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6" Type="http://schemas.openxmlformats.org/officeDocument/2006/relationships/image" Target="../media/image-1-15.jpeg"/><Relationship Id="rId17" Type="http://schemas.openxmlformats.org/officeDocument/2006/relationships/image" Target="../media/image-1-16.png"/><Relationship Id="rId18" Type="http://schemas.openxmlformats.org/officeDocument/2006/relationships/image" Target="../media/image-1-17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5303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302984" y="0"/>
            <a:ext cx="10972800" cy="5303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9302984" y="0"/>
            <a:ext cx="10972800" cy="5303520"/>
          </a:xfrm>
          <a:prstGeom prst="rect">
            <a:avLst/>
          </a:prstGeom>
          <a:solidFill>
            <a:srgbClr val="0D1B2A">
              <a:alpha val="58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502920"/>
            <a:ext cx="1783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Robot</a:t>
            </a:r>
            <a:endParaRPr lang="en-US" sz="8000" dirty="0"/>
          </a:p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Itself to Drive?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1737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project in AI-powered autonomous robotics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2926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Vasilev  ·  Adam Ryan  ·  Aidan Ryan  ·  Nora Cerveny  —  IMC Krems  SS 2026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5669280"/>
            <a:ext cx="14173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94D2BD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621792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6263640"/>
            <a:ext cx="1170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build?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1005840" y="7589520"/>
            <a:ext cx="12618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small tracked robot that can see the world through a camera and use AI to navigate — no remote control needed.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14996160" y="5669280"/>
            <a:ext cx="14904720" cy="54864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25400">
            <a:solidFill>
              <a:srgbClr val="0A9396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996160" y="5669280"/>
            <a:ext cx="14904720" cy="548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1521440"/>
            <a:ext cx="29361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600" dirty="0"/>
          </a:p>
        </p:txBody>
      </p:sp>
      <p:sp>
        <p:nvSpPr>
          <p:cNvPr id="15" name="Shape 10"/>
          <p:cNvSpPr/>
          <p:nvPr/>
        </p:nvSpPr>
        <p:spPr>
          <a:xfrm>
            <a:off x="457200" y="12710160"/>
            <a:ext cx="5213909" cy="4114800"/>
          </a:xfrm>
          <a:prstGeom prst="roundRect">
            <a:avLst>
              <a:gd name="adj" fmla="val 5556"/>
            </a:avLst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194" y="13167360"/>
            <a:ext cx="1645920" cy="1645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4360" y="15041880"/>
            <a:ext cx="49395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594360" y="15956280"/>
            <a:ext cx="49395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road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5671109" y="1431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00" dirty="0"/>
          </a:p>
        </p:txBody>
      </p:sp>
      <p:sp>
        <p:nvSpPr>
          <p:cNvPr id="20" name="Shape 14"/>
          <p:cNvSpPr/>
          <p:nvPr/>
        </p:nvSpPr>
        <p:spPr>
          <a:xfrm>
            <a:off x="6494069" y="12710160"/>
            <a:ext cx="5213909" cy="4114800"/>
          </a:xfrm>
          <a:prstGeom prst="roundRect">
            <a:avLst>
              <a:gd name="adj" fmla="val 5556"/>
            </a:avLst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063" y="13167360"/>
            <a:ext cx="1645920" cy="1645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31229" y="15041880"/>
            <a:ext cx="49395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Lane Detection</a:t>
            </a:r>
            <a:endParaRPr lang="en-US" sz="2800" dirty="0"/>
          </a:p>
        </p:txBody>
      </p:sp>
      <p:sp>
        <p:nvSpPr>
          <p:cNvPr id="23" name="Text 16"/>
          <p:cNvSpPr/>
          <p:nvPr/>
        </p:nvSpPr>
        <p:spPr>
          <a:xfrm>
            <a:off x="6631229" y="15956280"/>
            <a:ext cx="49395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road edges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lane lines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11707978" y="1431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00" dirty="0"/>
          </a:p>
        </p:txBody>
      </p:sp>
      <p:sp>
        <p:nvSpPr>
          <p:cNvPr id="25" name="Shape 18"/>
          <p:cNvSpPr/>
          <p:nvPr/>
        </p:nvSpPr>
        <p:spPr>
          <a:xfrm>
            <a:off x="12530938" y="12710160"/>
            <a:ext cx="5213909" cy="4114800"/>
          </a:xfrm>
          <a:prstGeom prst="roundRect">
            <a:avLst>
              <a:gd name="adj" fmla="val 5556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4932" y="13167360"/>
            <a:ext cx="1645920" cy="1645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668098" y="15041880"/>
            <a:ext cx="49395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2800" dirty="0"/>
          </a:p>
        </p:txBody>
      </p:sp>
      <p:sp>
        <p:nvSpPr>
          <p:cNvPr id="28" name="Text 20"/>
          <p:cNvSpPr/>
          <p:nvPr/>
        </p:nvSpPr>
        <p:spPr>
          <a:xfrm>
            <a:off x="12668098" y="15956280"/>
            <a:ext cx="49395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obstacles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YOLO AI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17744846" y="1431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00" dirty="0"/>
          </a:p>
        </p:txBody>
      </p:sp>
      <p:sp>
        <p:nvSpPr>
          <p:cNvPr id="30" name="Shape 22"/>
          <p:cNvSpPr/>
          <p:nvPr/>
        </p:nvSpPr>
        <p:spPr>
          <a:xfrm>
            <a:off x="18567806" y="12710160"/>
            <a:ext cx="5213909" cy="4114800"/>
          </a:xfrm>
          <a:prstGeom prst="roundRect">
            <a:avLst>
              <a:gd name="adj" fmla="val 5556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51801" y="13167360"/>
            <a:ext cx="1645920" cy="16459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8704966" y="15041880"/>
            <a:ext cx="49395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2800" dirty="0"/>
          </a:p>
        </p:txBody>
      </p:sp>
      <p:sp>
        <p:nvSpPr>
          <p:cNvPr id="33" name="Text 24"/>
          <p:cNvSpPr/>
          <p:nvPr/>
        </p:nvSpPr>
        <p:spPr>
          <a:xfrm>
            <a:off x="18704966" y="15956280"/>
            <a:ext cx="49395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into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the world</a:t>
            </a:r>
            <a:endParaRPr lang="en-US" sz="2000" dirty="0"/>
          </a:p>
        </p:txBody>
      </p:sp>
      <p:sp>
        <p:nvSpPr>
          <p:cNvPr id="34" name="Text 25"/>
          <p:cNvSpPr/>
          <p:nvPr/>
        </p:nvSpPr>
        <p:spPr>
          <a:xfrm>
            <a:off x="23781715" y="1431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00" dirty="0"/>
          </a:p>
        </p:txBody>
      </p:sp>
      <p:sp>
        <p:nvSpPr>
          <p:cNvPr id="35" name="Shape 26"/>
          <p:cNvSpPr/>
          <p:nvPr/>
        </p:nvSpPr>
        <p:spPr>
          <a:xfrm>
            <a:off x="24604675" y="12710160"/>
            <a:ext cx="5213909" cy="411480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88670" y="13167360"/>
            <a:ext cx="1645920" cy="16459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4741835" y="15041880"/>
            <a:ext cx="49395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2800" dirty="0"/>
          </a:p>
        </p:txBody>
      </p:sp>
      <p:sp>
        <p:nvSpPr>
          <p:cNvPr id="38" name="Text 28"/>
          <p:cNvSpPr/>
          <p:nvPr/>
        </p:nvSpPr>
        <p:spPr>
          <a:xfrm>
            <a:off x="24741835" y="15956280"/>
            <a:ext cx="49395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Steer, speed up,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stop safely</a:t>
            </a:r>
            <a:endParaRPr lang="en-US" sz="2000" dirty="0"/>
          </a:p>
        </p:txBody>
      </p:sp>
      <p:sp>
        <p:nvSpPr>
          <p:cNvPr id="39" name="Text 29"/>
          <p:cNvSpPr/>
          <p:nvPr/>
        </p:nvSpPr>
        <p:spPr>
          <a:xfrm>
            <a:off x="457200" y="17190720"/>
            <a:ext cx="29361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had to overcome</a:t>
            </a:r>
            <a:endParaRPr lang="en-US" sz="4600" dirty="0"/>
          </a:p>
        </p:txBody>
      </p:sp>
      <p:sp>
        <p:nvSpPr>
          <p:cNvPr id="40" name="Shape 30"/>
          <p:cNvSpPr/>
          <p:nvPr/>
        </p:nvSpPr>
        <p:spPr>
          <a:xfrm>
            <a:off x="457200" y="18196560"/>
            <a:ext cx="9512808" cy="4389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7135368" y="18516600"/>
            <a:ext cx="2606040" cy="731520"/>
          </a:xfrm>
          <a:prstGeom prst="roundRect">
            <a:avLst>
              <a:gd name="adj" fmla="val 18750"/>
            </a:avLst>
          </a:prstGeom>
          <a:solidFill>
            <a:srgbClr val="3D8B5B">
              <a:alpha val="90000"/>
            </a:srgbClr>
          </a:solidFill>
          <a:ln w="12700">
            <a:solidFill>
              <a:srgbClr val="3D8B5B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7135368" y="18516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</a:t>
            </a:r>
            <a:endParaRPr lang="en-US" sz="19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18516600"/>
            <a:ext cx="1005840" cy="100584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77240" y="19705320"/>
            <a:ext cx="887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OS</a:t>
            </a:r>
            <a:endParaRPr lang="en-US" sz="3000" dirty="0"/>
          </a:p>
        </p:txBody>
      </p:sp>
      <p:sp>
        <p:nvSpPr>
          <p:cNvPr id="45" name="Text 34"/>
          <p:cNvSpPr/>
          <p:nvPr/>
        </p:nvSpPr>
        <p:spPr>
          <a:xfrm>
            <a:off x="777240" y="20711160"/>
            <a:ext cx="8872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operating system versions tried before the robot would even switch on.</a:t>
            </a:r>
            <a:endParaRPr lang="en-US" sz="2400" dirty="0"/>
          </a:p>
        </p:txBody>
      </p:sp>
      <p:sp>
        <p:nvSpPr>
          <p:cNvPr id="46" name="Shape 35"/>
          <p:cNvSpPr/>
          <p:nvPr/>
        </p:nvSpPr>
        <p:spPr>
          <a:xfrm>
            <a:off x="10381488" y="18196560"/>
            <a:ext cx="9512808" cy="4389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17059656" y="18516600"/>
            <a:ext cx="2606040" cy="731520"/>
          </a:xfrm>
          <a:prstGeom prst="roundRect">
            <a:avLst>
              <a:gd name="adj" fmla="val 18750"/>
            </a:avLst>
          </a:prstGeom>
          <a:solidFill>
            <a:srgbClr val="3D8B5B">
              <a:alpha val="90000"/>
            </a:srgbClr>
          </a:solidFill>
          <a:ln w="12700">
            <a:solidFill>
              <a:srgbClr val="3D8B5B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17059656" y="18516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</a:t>
            </a:r>
            <a:endParaRPr lang="en-US" sz="19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1528" y="18516600"/>
            <a:ext cx="1005840" cy="100584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0701528" y="19705320"/>
            <a:ext cx="887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WiFi</a:t>
            </a:r>
            <a:endParaRPr lang="en-US" sz="3000" dirty="0"/>
          </a:p>
        </p:txBody>
      </p:sp>
      <p:sp>
        <p:nvSpPr>
          <p:cNvPr id="51" name="Text 39"/>
          <p:cNvSpPr/>
          <p:nvPr/>
        </p:nvSpPr>
        <p:spPr>
          <a:xfrm>
            <a:off x="10701528" y="20711160"/>
            <a:ext cx="8872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wireless driver was missing from the OS. We compiled and installed it manually.</a:t>
            </a:r>
            <a:endParaRPr lang="en-US" sz="2400" dirty="0"/>
          </a:p>
        </p:txBody>
      </p:sp>
      <p:sp>
        <p:nvSpPr>
          <p:cNvPr id="52" name="Shape 40"/>
          <p:cNvSpPr/>
          <p:nvPr/>
        </p:nvSpPr>
        <p:spPr>
          <a:xfrm>
            <a:off x="20305776" y="18196560"/>
            <a:ext cx="9512808" cy="4389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53" name="Shape 41"/>
          <p:cNvSpPr/>
          <p:nvPr/>
        </p:nvSpPr>
        <p:spPr>
          <a:xfrm>
            <a:off x="26983944" y="18516600"/>
            <a:ext cx="2606040" cy="731520"/>
          </a:xfrm>
          <a:prstGeom prst="roundRect">
            <a:avLst>
              <a:gd name="adj" fmla="val 18750"/>
            </a:avLst>
          </a:prstGeom>
          <a:solidFill>
            <a:srgbClr val="3D8B5B">
              <a:alpha val="90000"/>
            </a:srgbClr>
          </a:solidFill>
          <a:ln w="12700">
            <a:solidFill>
              <a:srgbClr val="3D8B5B"/>
            </a:solidFill>
            <a:prstDash val="solid"/>
          </a:ln>
        </p:spPr>
      </p:sp>
      <p:sp>
        <p:nvSpPr>
          <p:cNvPr id="54" name="Text 42"/>
          <p:cNvSpPr/>
          <p:nvPr/>
        </p:nvSpPr>
        <p:spPr>
          <a:xfrm>
            <a:off x="26983944" y="18516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</a:t>
            </a:r>
            <a:endParaRPr lang="en-US" sz="19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25816" y="18516600"/>
            <a:ext cx="1005840" cy="100584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20625816" y="19705320"/>
            <a:ext cx="887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Mismatch</a:t>
            </a:r>
            <a:endParaRPr lang="en-US" sz="3000" dirty="0"/>
          </a:p>
        </p:txBody>
      </p:sp>
      <p:sp>
        <p:nvSpPr>
          <p:cNvPr id="57" name="Text 44"/>
          <p:cNvSpPr/>
          <p:nvPr/>
        </p:nvSpPr>
        <p:spPr>
          <a:xfrm>
            <a:off x="20625816" y="20711160"/>
            <a:ext cx="8872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was built for an older chip. We designed a new power setup using a USB-C bank.</a:t>
            </a:r>
            <a:endParaRPr lang="en-US" sz="2400" dirty="0"/>
          </a:p>
        </p:txBody>
      </p:sp>
      <p:sp>
        <p:nvSpPr>
          <p:cNvPr id="58" name="Shape 45"/>
          <p:cNvSpPr/>
          <p:nvPr/>
        </p:nvSpPr>
        <p:spPr>
          <a:xfrm>
            <a:off x="457200" y="22997160"/>
            <a:ext cx="9512808" cy="4389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59" name="Shape 46"/>
          <p:cNvSpPr/>
          <p:nvPr/>
        </p:nvSpPr>
        <p:spPr>
          <a:xfrm>
            <a:off x="7135368" y="23317200"/>
            <a:ext cx="2606040" cy="731520"/>
          </a:xfrm>
          <a:prstGeom prst="roundRect">
            <a:avLst>
              <a:gd name="adj" fmla="val 18750"/>
            </a:avLst>
          </a:prstGeom>
          <a:solidFill>
            <a:srgbClr val="3D8B5B">
              <a:alpha val="90000"/>
            </a:srgbClr>
          </a:solidFill>
          <a:ln w="12700">
            <a:solidFill>
              <a:srgbClr val="3D8B5B"/>
            </a:solidFill>
            <a:prstDash val="solid"/>
          </a:ln>
        </p:spPr>
      </p:sp>
      <p:sp>
        <p:nvSpPr>
          <p:cNvPr id="60" name="Text 47"/>
          <p:cNvSpPr/>
          <p:nvPr/>
        </p:nvSpPr>
        <p:spPr>
          <a:xfrm>
            <a:off x="7135368" y="23317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</a:t>
            </a:r>
            <a:endParaRPr lang="en-US" sz="1900" dirty="0"/>
          </a:p>
        </p:txBody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23317200"/>
            <a:ext cx="1005840" cy="100584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777240" y="24505920"/>
            <a:ext cx="887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Invisible</a:t>
            </a:r>
            <a:endParaRPr lang="en-US" sz="3000" dirty="0"/>
          </a:p>
        </p:txBody>
      </p:sp>
      <p:sp>
        <p:nvSpPr>
          <p:cNvPr id="63" name="Text 49"/>
          <p:cNvSpPr/>
          <p:nvPr/>
        </p:nvSpPr>
        <p:spPr>
          <a:xfrm>
            <a:off x="777240" y="25511760"/>
            <a:ext cx="8872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config line blocked the camera driver. Fixed — live video feed confirmed.</a:t>
            </a:r>
            <a:endParaRPr lang="en-US" sz="2400" dirty="0"/>
          </a:p>
        </p:txBody>
      </p:sp>
      <p:sp>
        <p:nvSpPr>
          <p:cNvPr id="64" name="Shape 50"/>
          <p:cNvSpPr/>
          <p:nvPr/>
        </p:nvSpPr>
        <p:spPr>
          <a:xfrm>
            <a:off x="10381488" y="22997160"/>
            <a:ext cx="9512808" cy="4389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65" name="Shape 51"/>
          <p:cNvSpPr/>
          <p:nvPr/>
        </p:nvSpPr>
        <p:spPr>
          <a:xfrm>
            <a:off x="17059656" y="23317200"/>
            <a:ext cx="2606040" cy="731520"/>
          </a:xfrm>
          <a:prstGeom prst="roundRect">
            <a:avLst>
              <a:gd name="adj" fmla="val 18750"/>
            </a:avLst>
          </a:prstGeom>
          <a:solidFill>
            <a:srgbClr val="3D8B5B">
              <a:alpha val="90000"/>
            </a:srgbClr>
          </a:solidFill>
          <a:ln w="12700">
            <a:solidFill>
              <a:srgbClr val="3D8B5B"/>
            </a:solidFill>
            <a:prstDash val="solid"/>
          </a:ln>
        </p:spPr>
      </p:sp>
      <p:sp>
        <p:nvSpPr>
          <p:cNvPr id="66" name="Text 52"/>
          <p:cNvSpPr/>
          <p:nvPr/>
        </p:nvSpPr>
        <p:spPr>
          <a:xfrm>
            <a:off x="17059656" y="23317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</a:t>
            </a:r>
            <a:endParaRPr lang="en-US" sz="190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01528" y="23317200"/>
            <a:ext cx="1005840" cy="1005840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10701528" y="24505920"/>
            <a:ext cx="887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 Gone Haywire</a:t>
            </a:r>
            <a:endParaRPr lang="en-US" sz="3000" dirty="0"/>
          </a:p>
        </p:txBody>
      </p:sp>
      <p:sp>
        <p:nvSpPr>
          <p:cNvPr id="69" name="Text 54"/>
          <p:cNvSpPr/>
          <p:nvPr/>
        </p:nvSpPr>
        <p:spPr>
          <a:xfrm>
            <a:off x="10701528" y="25511760"/>
            <a:ext cx="8872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robotic arm tangled its own cables. We recalibrated all servo positions.</a:t>
            </a:r>
            <a:endParaRPr lang="en-US" sz="2400" dirty="0"/>
          </a:p>
        </p:txBody>
      </p:sp>
      <p:sp>
        <p:nvSpPr>
          <p:cNvPr id="70" name="Shape 55"/>
          <p:cNvSpPr/>
          <p:nvPr/>
        </p:nvSpPr>
        <p:spPr>
          <a:xfrm>
            <a:off x="20305776" y="22997160"/>
            <a:ext cx="9512808" cy="43891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71" name="Shape 56"/>
          <p:cNvSpPr/>
          <p:nvPr/>
        </p:nvSpPr>
        <p:spPr>
          <a:xfrm>
            <a:off x="26983944" y="23317200"/>
            <a:ext cx="2606040" cy="731520"/>
          </a:xfrm>
          <a:prstGeom prst="roundRect">
            <a:avLst>
              <a:gd name="adj" fmla="val 18750"/>
            </a:avLst>
          </a:prstGeom>
          <a:solidFill>
            <a:srgbClr val="E9C46A">
              <a:alpha val="9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2" name="Text 57"/>
          <p:cNvSpPr/>
          <p:nvPr/>
        </p:nvSpPr>
        <p:spPr>
          <a:xfrm>
            <a:off x="26983944" y="23317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Ongoing</a:t>
            </a:r>
            <a:endParaRPr lang="en-US" sz="1900" dirty="0"/>
          </a:p>
        </p:txBody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25816" y="23317200"/>
            <a:ext cx="1005840" cy="1005840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20625816" y="24505920"/>
            <a:ext cx="887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Motors Silent</a:t>
            </a:r>
            <a:endParaRPr lang="en-US" sz="3000" dirty="0"/>
          </a:p>
        </p:txBody>
      </p:sp>
      <p:sp>
        <p:nvSpPr>
          <p:cNvPr id="75" name="Text 59"/>
          <p:cNvSpPr/>
          <p:nvPr/>
        </p:nvSpPr>
        <p:spPr>
          <a:xfrm>
            <a:off x="20625816" y="25511760"/>
            <a:ext cx="8872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motors won't move despite correct commands. Root cause still under investigation.</a:t>
            </a:r>
            <a:endParaRPr lang="en-US" sz="2400" dirty="0"/>
          </a:p>
        </p:txBody>
      </p:sp>
      <p:sp>
        <p:nvSpPr>
          <p:cNvPr id="76" name="Shape 60"/>
          <p:cNvSpPr/>
          <p:nvPr/>
        </p:nvSpPr>
        <p:spPr>
          <a:xfrm>
            <a:off x="457200" y="28163520"/>
            <a:ext cx="17373600" cy="7315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D0D0D0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sp>
        <p:nvSpPr>
          <p:cNvPr id="77" name="Text 61"/>
          <p:cNvSpPr/>
          <p:nvPr/>
        </p:nvSpPr>
        <p:spPr>
          <a:xfrm>
            <a:off x="914400" y="2852928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did we get?</a:t>
            </a:r>
            <a:endParaRPr lang="en-US" sz="3400" dirty="0"/>
          </a:p>
        </p:txBody>
      </p:sp>
      <p:graphicFrame>
        <p:nvGraphicFramePr>
          <p:cNvPr id="78" name="Chart 0" descr=""/>
          <p:cNvGraphicFramePr/>
          <p:nvPr/>
        </p:nvGraphicFramePr>
        <p:xfrm>
          <a:off x="548640" y="29626560"/>
          <a:ext cx="171907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79" name="Shape 62"/>
          <p:cNvSpPr/>
          <p:nvPr/>
        </p:nvSpPr>
        <p:spPr>
          <a:xfrm>
            <a:off x="18379440" y="28163520"/>
            <a:ext cx="11430000" cy="731520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 w="25400">
            <a:solidFill>
              <a:srgbClr val="0A9396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8379440" y="28163520"/>
            <a:ext cx="11430000" cy="6400800"/>
          </a:xfrm>
          <a:prstGeom prst="rect">
            <a:avLst/>
          </a:prstGeom>
        </p:spPr>
      </p:pic>
      <p:sp>
        <p:nvSpPr>
          <p:cNvPr id="81" name="Text 63"/>
          <p:cNvSpPr/>
          <p:nvPr/>
        </p:nvSpPr>
        <p:spPr>
          <a:xfrm>
            <a:off x="18379440" y="3465576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mount &amp; servo arm — mid-assembly</a:t>
            </a:r>
            <a:endParaRPr lang="en-US" sz="2000" dirty="0"/>
          </a:p>
        </p:txBody>
      </p:sp>
      <p:sp>
        <p:nvSpPr>
          <p:cNvPr id="82" name="Shape 64"/>
          <p:cNvSpPr/>
          <p:nvPr/>
        </p:nvSpPr>
        <p:spPr>
          <a:xfrm>
            <a:off x="457200" y="35844480"/>
            <a:ext cx="14630400" cy="530352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" y="36301680"/>
            <a:ext cx="1097280" cy="1097280"/>
          </a:xfrm>
          <a:prstGeom prst="rect">
            <a:avLst/>
          </a:prstGeom>
        </p:spPr>
      </p:pic>
      <p:sp>
        <p:nvSpPr>
          <p:cNvPr id="84" name="Text 65"/>
          <p:cNvSpPr/>
          <p:nvPr/>
        </p:nvSpPr>
        <p:spPr>
          <a:xfrm>
            <a:off x="2286000" y="36347400"/>
            <a:ext cx="1234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85" name="Text 66"/>
          <p:cNvSpPr/>
          <p:nvPr/>
        </p:nvSpPr>
        <p:spPr>
          <a:xfrm>
            <a:off x="1005840" y="37536120"/>
            <a:ext cx="13167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hardware is full of surprises.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semester was spent making the robot's brain and body talk to each other — something the kit wasn't designed for.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problem-solving IS the engineering.</a:t>
            </a:r>
            <a:endParaRPr lang="en-US" sz="2600" dirty="0"/>
          </a:p>
        </p:txBody>
      </p:sp>
      <p:sp>
        <p:nvSpPr>
          <p:cNvPr id="86" name="Shape 67"/>
          <p:cNvSpPr/>
          <p:nvPr/>
        </p:nvSpPr>
        <p:spPr>
          <a:xfrm>
            <a:off x="15636240" y="35844480"/>
            <a:ext cx="14173200" cy="5303520"/>
          </a:xfrm>
          <a:prstGeom prst="roundRect">
            <a:avLst>
              <a:gd name="adj" fmla="val 5172"/>
            </a:avLst>
          </a:prstGeom>
          <a:solidFill>
            <a:srgbClr val="2D3748"/>
          </a:solidFill>
          <a:ln w="19050">
            <a:solidFill>
              <a:srgbClr val="0A9396"/>
            </a:solidFill>
            <a:prstDash val="solid"/>
          </a:ln>
          <a:effectLst>
            <a:outerShdw sx="100000" sy="100000" kx="0" ky="0" algn="bl" rotWithShape="0" blurRad="152400" dist="63500" dir="2700000">
              <a:srgbClr val="000000">
                <a:alpha val="15000"/>
              </a:srgbClr>
            </a:outerShdw>
          </a:effectLst>
        </p:spPr>
      </p:sp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184880" y="36301680"/>
            <a:ext cx="1097280" cy="1097280"/>
          </a:xfrm>
          <a:prstGeom prst="rect">
            <a:avLst/>
          </a:prstGeom>
        </p:spPr>
      </p:pic>
      <p:sp>
        <p:nvSpPr>
          <p:cNvPr id="88" name="Text 68"/>
          <p:cNvSpPr/>
          <p:nvPr/>
        </p:nvSpPr>
        <p:spPr>
          <a:xfrm>
            <a:off x="17465040" y="36347400"/>
            <a:ext cx="1188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89" name="Text 69"/>
          <p:cNvSpPr/>
          <p:nvPr/>
        </p:nvSpPr>
        <p:spPr>
          <a:xfrm>
            <a:off x="16184880" y="37536120"/>
            <a:ext cx="1325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drive motors so the robot can actually move</a:t>
            </a:r>
            <a:endParaRPr lang="en-US" sz="2600" dirty="0"/>
          </a:p>
          <a:p>
            <a:pPr algn="l" marL="342900" indent="-342900">
              <a:buSzPct val="100000"/>
              <a:buChar char="•"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sensor (ultrasonic or lidar) for true fusion</a:t>
            </a:r>
            <a:endParaRPr lang="en-US" sz="2600" dirty="0"/>
          </a:p>
          <a:p>
            <a:pPr algn="l" marL="342900" indent="-342900">
              <a:buSzPct val="100000"/>
              <a:buChar char="•"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AI on footage from this robot's own camera</a:t>
            </a:r>
            <a:endParaRPr lang="en-US" sz="2600" dirty="0"/>
          </a:p>
          <a:p>
            <a:pPr algn="l" marL="342900" indent="-342900">
              <a:buSzPct val="100000"/>
              <a:buChar char="•"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battery on-board for fully wireless operation</a:t>
            </a:r>
            <a:endParaRPr lang="en-US" sz="2600" dirty="0"/>
          </a:p>
        </p:txBody>
      </p:sp>
      <p:sp>
        <p:nvSpPr>
          <p:cNvPr id="90" name="Shape 70"/>
          <p:cNvSpPr/>
          <p:nvPr/>
        </p:nvSpPr>
        <p:spPr>
          <a:xfrm>
            <a:off x="0" y="41513760"/>
            <a:ext cx="30275784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1" name="Text 71"/>
          <p:cNvSpPr/>
          <p:nvPr/>
        </p:nvSpPr>
        <p:spPr>
          <a:xfrm>
            <a:off x="457200" y="41559480"/>
            <a:ext cx="29361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Krems University of Applied Sciences  ·  Capstone Project SS 2026  ·  Denis Vasilev  ·  Adam Ryan  ·  Aidan Ryan  ·  Nora Cerveny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D71A6E5342B440AE3BB1EFEF99606C" ma:contentTypeVersion="3" ma:contentTypeDescription="Create a new document." ma:contentTypeScope="" ma:versionID="2951fd9ae1a61083e475c3d041d6ccae">
  <xsd:schema xmlns:xsd="http://www.w3.org/2001/XMLSchema" xmlns:xs="http://www.w3.org/2001/XMLSchema" xmlns:p="http://schemas.microsoft.com/office/2006/metadata/properties" xmlns:ns2="7e578206-cad7-48be-b078-91c239c72e37" targetNamespace="http://schemas.microsoft.com/office/2006/metadata/properties" ma:root="true" ma:fieldsID="778f3414410b6a31c54eba582b7e6c5e" ns2:_="">
    <xsd:import namespace="7e578206-cad7-48be-b078-91c239c72e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578206-cad7-48be-b078-91c239c72e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EDD348-425A-4A8E-A972-B9EE627A3A1C}"/>
</file>

<file path=customXml/itemProps2.xml><?xml version="1.0" encoding="utf-8"?>
<ds:datastoreItem xmlns:ds="http://schemas.openxmlformats.org/officeDocument/2006/customXml" ds:itemID="{EFC31F34-661C-4CD8-A44F-E6BFA887CACD}"/>
</file>

<file path=customXml/itemProps3.xml><?xml version="1.0" encoding="utf-8"?>
<ds:datastoreItem xmlns:ds="http://schemas.openxmlformats.org/officeDocument/2006/customXml" ds:itemID="{457B1FC2-BC35-4061-94DD-44F1FADFC4C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2026-06-24T10:12:11Z</dcterms:created>
  <dcterms:modified xsi:type="dcterms:W3CDTF">2026-06-24T10:12:11Z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0x01010054D71A6E5342B440AE3BB1EFEF99606C</vt:lpwstr>
  </property>
</Properties>
</file>